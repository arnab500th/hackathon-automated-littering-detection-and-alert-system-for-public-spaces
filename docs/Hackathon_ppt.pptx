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
  </p:notesMasterIdLst>
  <p:sldIdLst>
    <p:sldId id="256" r:id="rId2"/>
    <p:sldId id="258" r:id="rId3"/>
    <p:sldId id="259" r:id="rId4"/>
    <p:sldId id="260" r:id="rId5"/>
    <p:sldId id="261" r:id="rId6"/>
    <p:sldId id="262"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193263-90BF-49AA-9FDA-B1B2F53C69D0}" v="103" dt="2026-03-02T12:14:47.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57" autoAdjust="0"/>
    <p:restoredTop sz="94660"/>
  </p:normalViewPr>
  <p:slideViewPr>
    <p:cSldViewPr snapToGrid="0">
      <p:cViewPr varScale="1">
        <p:scale>
          <a:sx n="78" d="100"/>
          <a:sy n="78" d="100"/>
        </p:scale>
        <p:origin x="149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2B467B-D7A7-4613-88E3-AE55E57E29B2}" type="datetimeFigureOut">
              <a:rPr lang="en-IN" smtClean="0"/>
              <a:t>10-03-2026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9ECD69-D072-4F98-ACEB-E1EA312C1AB3}" type="slidenum">
              <a:rPr lang="en-IN" smtClean="0"/>
              <a:t>‹#›</a:t>
            </a:fld>
            <a:endParaRPr lang="en-IN"/>
          </a:p>
        </p:txBody>
      </p:sp>
    </p:spTree>
    <p:extLst>
      <p:ext uri="{BB962C8B-B14F-4D97-AF65-F5344CB8AC3E}">
        <p14:creationId xmlns:p14="http://schemas.microsoft.com/office/powerpoint/2010/main" val="2422449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C708A5-E0D8-40CD-B0B7-EFEBECB855AD}" type="datetime1">
              <a:rPr lang="en-IN" smtClean="0"/>
              <a:t>10-03-2026</a:t>
            </a:fld>
            <a:endParaRPr lang="en-IN"/>
          </a:p>
        </p:txBody>
      </p:sp>
      <p:sp>
        <p:nvSpPr>
          <p:cNvPr id="5" name="Footer Placeholder 4"/>
          <p:cNvSpPr>
            <a:spLocks noGrp="1"/>
          </p:cNvSpPr>
          <p:nvPr>
            <p:ph type="ftr" sz="quarter" idx="11"/>
          </p:nvPr>
        </p:nvSpPr>
        <p:spPr/>
        <p:txBody>
          <a:bodyPr/>
          <a:lstStyle/>
          <a:p>
            <a:r>
              <a:rPr lang="en-IN"/>
              <a:t>NextGenHack Idea Submission - Template</a:t>
            </a:r>
          </a:p>
        </p:txBody>
      </p:sp>
      <p:sp>
        <p:nvSpPr>
          <p:cNvPr id="6" name="Slide Number Placeholder 5"/>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356274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BF309E-D4AF-448A-8B10-638456A62D0B}" type="datetime1">
              <a:rPr lang="en-IN" smtClean="0"/>
              <a:t>10-03-2026</a:t>
            </a:fld>
            <a:endParaRPr lang="en-IN"/>
          </a:p>
        </p:txBody>
      </p:sp>
      <p:sp>
        <p:nvSpPr>
          <p:cNvPr id="5" name="Footer Placeholder 4"/>
          <p:cNvSpPr>
            <a:spLocks noGrp="1"/>
          </p:cNvSpPr>
          <p:nvPr>
            <p:ph type="ftr" sz="quarter" idx="11"/>
          </p:nvPr>
        </p:nvSpPr>
        <p:spPr/>
        <p:txBody>
          <a:bodyPr/>
          <a:lstStyle/>
          <a:p>
            <a:r>
              <a:rPr lang="en-IN"/>
              <a:t>NextGenHack Idea Submission - Template</a:t>
            </a:r>
          </a:p>
        </p:txBody>
      </p:sp>
      <p:sp>
        <p:nvSpPr>
          <p:cNvPr id="6" name="Slide Number Placeholder 5"/>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234997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4369E7-7919-423B-B74E-C6A97F265EE4}" type="datetime1">
              <a:rPr lang="en-IN" smtClean="0"/>
              <a:t>10-03-2026</a:t>
            </a:fld>
            <a:endParaRPr lang="en-IN"/>
          </a:p>
        </p:txBody>
      </p:sp>
      <p:sp>
        <p:nvSpPr>
          <p:cNvPr id="5" name="Footer Placeholder 4"/>
          <p:cNvSpPr>
            <a:spLocks noGrp="1"/>
          </p:cNvSpPr>
          <p:nvPr>
            <p:ph type="ftr" sz="quarter" idx="11"/>
          </p:nvPr>
        </p:nvSpPr>
        <p:spPr/>
        <p:txBody>
          <a:bodyPr/>
          <a:lstStyle/>
          <a:p>
            <a:r>
              <a:rPr lang="en-IN"/>
              <a:t>NextGenHack Idea Submission - Template</a:t>
            </a:r>
          </a:p>
        </p:txBody>
      </p:sp>
      <p:sp>
        <p:nvSpPr>
          <p:cNvPr id="6" name="Slide Number Placeholder 5"/>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2465630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5DC62A-3851-4666-BCD3-DEDFD379FEEA}" type="datetime1">
              <a:rPr lang="en-IN" smtClean="0"/>
              <a:t>10-03-2026</a:t>
            </a:fld>
            <a:endParaRPr lang="en-IN"/>
          </a:p>
        </p:txBody>
      </p:sp>
      <p:sp>
        <p:nvSpPr>
          <p:cNvPr id="6" name="Footer Placeholder 5"/>
          <p:cNvSpPr>
            <a:spLocks noGrp="1"/>
          </p:cNvSpPr>
          <p:nvPr>
            <p:ph type="ftr" sz="quarter" idx="11"/>
          </p:nvPr>
        </p:nvSpPr>
        <p:spPr/>
        <p:txBody>
          <a:bodyPr/>
          <a:lstStyle/>
          <a:p>
            <a:r>
              <a:rPr lang="en-IN"/>
              <a:t>NextGenHack Idea Submission - Template</a:t>
            </a:r>
          </a:p>
        </p:txBody>
      </p:sp>
      <p:sp>
        <p:nvSpPr>
          <p:cNvPr id="7" name="Slide Number Placeholder 6"/>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3565416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6E9FFA-E053-460F-ABE2-37F68A0BD9C1}" type="datetime1">
              <a:rPr lang="en-IN" smtClean="0"/>
              <a:t>10-03-2026</a:t>
            </a:fld>
            <a:endParaRPr lang="en-IN"/>
          </a:p>
        </p:txBody>
      </p:sp>
      <p:sp>
        <p:nvSpPr>
          <p:cNvPr id="8" name="Footer Placeholder 7"/>
          <p:cNvSpPr>
            <a:spLocks noGrp="1"/>
          </p:cNvSpPr>
          <p:nvPr>
            <p:ph type="ftr" sz="quarter" idx="11"/>
          </p:nvPr>
        </p:nvSpPr>
        <p:spPr/>
        <p:txBody>
          <a:bodyPr/>
          <a:lstStyle/>
          <a:p>
            <a:r>
              <a:rPr lang="en-IN"/>
              <a:t>NextGenHack Idea Submission - Template</a:t>
            </a:r>
          </a:p>
        </p:txBody>
      </p:sp>
      <p:sp>
        <p:nvSpPr>
          <p:cNvPr id="9" name="Slide Number Placeholder 8"/>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1089616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208EEA-F4AE-42FB-A010-59E407FB9628}" type="datetime1">
              <a:rPr lang="en-IN" smtClean="0"/>
              <a:t>10-03-2026</a:t>
            </a:fld>
            <a:endParaRPr lang="en-IN"/>
          </a:p>
        </p:txBody>
      </p:sp>
      <p:sp>
        <p:nvSpPr>
          <p:cNvPr id="4" name="Footer Placeholder 3"/>
          <p:cNvSpPr>
            <a:spLocks noGrp="1"/>
          </p:cNvSpPr>
          <p:nvPr>
            <p:ph type="ftr" sz="quarter" idx="11"/>
          </p:nvPr>
        </p:nvSpPr>
        <p:spPr/>
        <p:txBody>
          <a:bodyPr/>
          <a:lstStyle/>
          <a:p>
            <a:r>
              <a:rPr lang="en-IN"/>
              <a:t>NextGenHack Idea Submission - Template</a:t>
            </a:r>
          </a:p>
        </p:txBody>
      </p:sp>
      <p:sp>
        <p:nvSpPr>
          <p:cNvPr id="5" name="Slide Number Placeholder 4"/>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3253077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B5330F-01BC-4D02-8A24-F52ACB8B2923}" type="datetime1">
              <a:rPr lang="en-IN" smtClean="0"/>
              <a:t>10-03-2026</a:t>
            </a:fld>
            <a:endParaRPr lang="en-IN"/>
          </a:p>
        </p:txBody>
      </p:sp>
      <p:sp>
        <p:nvSpPr>
          <p:cNvPr id="3" name="Footer Placeholder 2"/>
          <p:cNvSpPr>
            <a:spLocks noGrp="1"/>
          </p:cNvSpPr>
          <p:nvPr>
            <p:ph type="ftr" sz="quarter" idx="11"/>
          </p:nvPr>
        </p:nvSpPr>
        <p:spPr/>
        <p:txBody>
          <a:bodyPr/>
          <a:lstStyle/>
          <a:p>
            <a:r>
              <a:rPr lang="en-IN"/>
              <a:t>NextGenHack Idea Submission - Template</a:t>
            </a:r>
          </a:p>
        </p:txBody>
      </p:sp>
      <p:sp>
        <p:nvSpPr>
          <p:cNvPr id="4" name="Slide Number Placeholder 3"/>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1373406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7578FA-8223-4A54-BC99-B7325C7272B0}" type="datetime1">
              <a:rPr lang="en-IN" smtClean="0"/>
              <a:t>10-03-2026</a:t>
            </a:fld>
            <a:endParaRPr lang="en-IN"/>
          </a:p>
        </p:txBody>
      </p:sp>
      <p:sp>
        <p:nvSpPr>
          <p:cNvPr id="6" name="Footer Placeholder 5"/>
          <p:cNvSpPr>
            <a:spLocks noGrp="1"/>
          </p:cNvSpPr>
          <p:nvPr>
            <p:ph type="ftr" sz="quarter" idx="11"/>
          </p:nvPr>
        </p:nvSpPr>
        <p:spPr/>
        <p:txBody>
          <a:bodyPr/>
          <a:lstStyle/>
          <a:p>
            <a:r>
              <a:rPr lang="en-IN"/>
              <a:t>NextGenHack Idea Submission - Template</a:t>
            </a:r>
          </a:p>
        </p:txBody>
      </p:sp>
      <p:sp>
        <p:nvSpPr>
          <p:cNvPr id="7" name="Slide Number Placeholder 6"/>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2477094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C13F47-14CA-412A-813B-78155E6D2EA9}" type="datetime1">
              <a:rPr lang="en-IN" smtClean="0"/>
              <a:t>10-03-2026</a:t>
            </a:fld>
            <a:endParaRPr lang="en-IN"/>
          </a:p>
        </p:txBody>
      </p:sp>
      <p:sp>
        <p:nvSpPr>
          <p:cNvPr id="6" name="Footer Placeholder 5"/>
          <p:cNvSpPr>
            <a:spLocks noGrp="1"/>
          </p:cNvSpPr>
          <p:nvPr>
            <p:ph type="ftr" sz="quarter" idx="11"/>
          </p:nvPr>
        </p:nvSpPr>
        <p:spPr/>
        <p:txBody>
          <a:bodyPr/>
          <a:lstStyle/>
          <a:p>
            <a:r>
              <a:rPr lang="en-IN"/>
              <a:t>NextGenHack Idea Submission - Template</a:t>
            </a:r>
          </a:p>
        </p:txBody>
      </p:sp>
      <p:sp>
        <p:nvSpPr>
          <p:cNvPr id="7" name="Slide Number Placeholder 6"/>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3766110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5841C4-D85E-4BE1-A82C-175CFEF47AD2}" type="datetime1">
              <a:rPr lang="en-IN" smtClean="0"/>
              <a:t>10-03-2026</a:t>
            </a:fld>
            <a:endParaRPr lang="en-IN"/>
          </a:p>
        </p:txBody>
      </p:sp>
      <p:sp>
        <p:nvSpPr>
          <p:cNvPr id="5" name="Footer Placeholder 4"/>
          <p:cNvSpPr>
            <a:spLocks noGrp="1"/>
          </p:cNvSpPr>
          <p:nvPr>
            <p:ph type="ftr" sz="quarter" idx="11"/>
          </p:nvPr>
        </p:nvSpPr>
        <p:spPr/>
        <p:txBody>
          <a:bodyPr/>
          <a:lstStyle/>
          <a:p>
            <a:r>
              <a:rPr lang="en-IN"/>
              <a:t>NextGenHack Idea Submission - Template</a:t>
            </a:r>
          </a:p>
        </p:txBody>
      </p:sp>
      <p:sp>
        <p:nvSpPr>
          <p:cNvPr id="6" name="Slide Number Placeholder 5"/>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2672417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42B73F-0C6F-4345-82F0-F90D86C72979}" type="datetime1">
              <a:rPr lang="en-IN" smtClean="0"/>
              <a:t>10-03-2026</a:t>
            </a:fld>
            <a:endParaRPr lang="en-IN"/>
          </a:p>
        </p:txBody>
      </p:sp>
      <p:sp>
        <p:nvSpPr>
          <p:cNvPr id="5" name="Footer Placeholder 4"/>
          <p:cNvSpPr>
            <a:spLocks noGrp="1"/>
          </p:cNvSpPr>
          <p:nvPr>
            <p:ph type="ftr" sz="quarter" idx="11"/>
          </p:nvPr>
        </p:nvSpPr>
        <p:spPr/>
        <p:txBody>
          <a:bodyPr/>
          <a:lstStyle/>
          <a:p>
            <a:r>
              <a:rPr lang="en-IN"/>
              <a:t>NextGenHack Idea Submission - Template</a:t>
            </a:r>
          </a:p>
        </p:txBody>
      </p:sp>
      <p:sp>
        <p:nvSpPr>
          <p:cNvPr id="6" name="Slide Number Placeholder 5"/>
          <p:cNvSpPr>
            <a:spLocks noGrp="1"/>
          </p:cNvSpPr>
          <p:nvPr>
            <p:ph type="sldNum" sz="quarter" idx="12"/>
          </p:nvPr>
        </p:nvSpPr>
        <p:spPr/>
        <p:txBody>
          <a:bodyPr/>
          <a:lstStyle/>
          <a:p>
            <a:fld id="{0C827B39-C601-484C-8A0D-4FD82261B79A}" type="slidenum">
              <a:rPr lang="en-IN" smtClean="0"/>
              <a:t>‹#›</a:t>
            </a:fld>
            <a:endParaRPr lang="en-IN"/>
          </a:p>
        </p:txBody>
      </p:sp>
    </p:spTree>
    <p:extLst>
      <p:ext uri="{BB962C8B-B14F-4D97-AF65-F5344CB8AC3E}">
        <p14:creationId xmlns:p14="http://schemas.microsoft.com/office/powerpoint/2010/main" val="618070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CD4A21-5BC3-4871-86CD-898F353D67AF}" type="datetime1">
              <a:rPr lang="en-IN" smtClean="0"/>
              <a:t>10-03-2026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NextGenHack Idea Submission - Template</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827B39-C601-484C-8A0D-4FD82261B79A}" type="slidenum">
              <a:rPr lang="en-IN" smtClean="0"/>
              <a:t>‹#›</a:t>
            </a:fld>
            <a:endParaRPr lang="en-IN"/>
          </a:p>
        </p:txBody>
      </p:sp>
    </p:spTree>
    <p:extLst>
      <p:ext uri="{BB962C8B-B14F-4D97-AF65-F5344CB8AC3E}">
        <p14:creationId xmlns:p14="http://schemas.microsoft.com/office/powerpoint/2010/main" val="2698122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png"/><Relationship Id="rId18" Type="http://schemas.openxmlformats.org/officeDocument/2006/relationships/hyperlink" Target="https://medium.com/@achanandhi.m/exploring-fastapi-advanced-features-and-best-practices-3558dbebf4de" TargetMode="External"/><Relationship Id="rId26" Type="http://schemas.openxmlformats.org/officeDocument/2006/relationships/hyperlink" Target="https://toppng.com/show_download/239551/html-css-js-icons" TargetMode="External"/><Relationship Id="rId3" Type="http://schemas.openxmlformats.org/officeDocument/2006/relationships/image" Target="../media/image4.png"/><Relationship Id="rId21" Type="http://schemas.openxmlformats.org/officeDocument/2006/relationships/image" Target="../media/image11.png"/><Relationship Id="rId7" Type="http://schemas.openxmlformats.org/officeDocument/2006/relationships/hyperlink" Target="https://zh.wikipedia.org/zh-mo/OpenCV" TargetMode="External"/><Relationship Id="rId12" Type="http://schemas.openxmlformats.org/officeDocument/2006/relationships/hyperlink" Target="https://www.fity.club/lists/suggestions/numpy-array/" TargetMode="External"/><Relationship Id="rId17" Type="http://schemas.microsoft.com/office/2007/relationships/hdphoto" Target="../media/hdphoto4.wdp"/><Relationship Id="rId25" Type="http://schemas.microsoft.com/office/2007/relationships/hdphoto" Target="../media/hdphoto6.wdp"/><Relationship Id="rId2" Type="http://schemas.openxmlformats.org/officeDocument/2006/relationships/image" Target="../media/image3.jpeg"/><Relationship Id="rId16" Type="http://schemas.openxmlformats.org/officeDocument/2006/relationships/image" Target="../media/image9.png"/><Relationship Id="rId20" Type="http://schemas.openxmlformats.org/officeDocument/2006/relationships/hyperlink" Target="https://pythongui.org/how-to-build-a-gui-for-optical-character-recognition/" TargetMode="External"/><Relationship Id="rId29" Type="http://schemas.openxmlformats.org/officeDocument/2006/relationships/hyperlink" Target="http://fity.club/lists/j/js-free-interface-icons/" TargetMode="Externa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7.png"/><Relationship Id="rId24" Type="http://schemas.openxmlformats.org/officeDocument/2006/relationships/image" Target="../media/image12.png"/><Relationship Id="rId5" Type="http://schemas.openxmlformats.org/officeDocument/2006/relationships/hyperlink" Target="https://codewith.mu/en/tutorials/" TargetMode="External"/><Relationship Id="rId15" Type="http://schemas.openxmlformats.org/officeDocument/2006/relationships/hyperlink" Target="https://chaechae.life/blog/sqlalchemy-temp-table" TargetMode="External"/><Relationship Id="rId23" Type="http://schemas.openxmlformats.org/officeDocument/2006/relationships/hyperlink" Target="https://sundze7.github.io/Sample-HTML-CSS-Website/" TargetMode="External"/><Relationship Id="rId28" Type="http://schemas.microsoft.com/office/2007/relationships/hdphoto" Target="../media/hdphoto7.wdp"/><Relationship Id="rId10" Type="http://schemas.openxmlformats.org/officeDocument/2006/relationships/hyperlink" Target="https://play.google.com/store/apps/dev?id=8838831910972366670&amp;hl=en" TargetMode="External"/><Relationship Id="rId19" Type="http://schemas.openxmlformats.org/officeDocument/2006/relationships/image" Target="../media/image10.png"/><Relationship Id="rId4" Type="http://schemas.microsoft.com/office/2007/relationships/hdphoto" Target="../media/hdphoto1.wdp"/><Relationship Id="rId9" Type="http://schemas.microsoft.com/office/2007/relationships/hdphoto" Target="../media/hdphoto2.wdp"/><Relationship Id="rId14" Type="http://schemas.microsoft.com/office/2007/relationships/hdphoto" Target="../media/hdphoto3.wdp"/><Relationship Id="rId22" Type="http://schemas.microsoft.com/office/2007/relationships/hdphoto" Target="../media/hdphoto5.wdp"/><Relationship Id="rId27" Type="http://schemas.openxmlformats.org/officeDocument/2006/relationships/image" Target="../media/image13.png"/><Relationship Id="rId30"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gate.net/publication/388326795_Real-time_detection_and_monitoring_of_public_littering_behavior_using_deep_learning_for_a_sustainable_environment" TargetMode="External"/><Relationship Id="rId2" Type="http://schemas.openxmlformats.org/officeDocument/2006/relationships/hyperlink" Target="https://www.nature.com/articles/s41598-024-77118-x" TargetMode="External"/><Relationship Id="rId1" Type="http://schemas.openxmlformats.org/officeDocument/2006/relationships/slideLayout" Target="../slideLayouts/slideLayout2.xml"/><Relationship Id="rId6" Type="http://schemas.openxmlformats.org/officeDocument/2006/relationships/hyperlink" Target="https://www.ijert.org/ai-based-camera-systems-for-roadsidel-itter-detection-and-offender-identification-ijertv15is010642" TargetMode="External"/><Relationship Id="rId5" Type="http://schemas.openxmlformats.org/officeDocument/2006/relationships/hyperlink" Target="https://www.samvaktijournals.com/system/files/sjrit/2021.02.19/intelligent_garbage_detection_and_alert_system.pdf" TargetMode="External"/><Relationship Id="rId4" Type="http://schemas.openxmlformats.org/officeDocument/2006/relationships/hyperlink" Target="https://www.irejournals.com/formatedpaper/1712601.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56F35-05AE-DFAE-7EAB-2DB9A05B58F1}"/>
              </a:ext>
            </a:extLst>
          </p:cNvPr>
          <p:cNvSpPr>
            <a:spLocks noGrp="1"/>
          </p:cNvSpPr>
          <p:nvPr>
            <p:ph type="ctrTitle"/>
          </p:nvPr>
        </p:nvSpPr>
        <p:spPr>
          <a:xfrm>
            <a:off x="1768642" y="941721"/>
            <a:ext cx="5606716" cy="658479"/>
          </a:xfrm>
        </p:spPr>
        <p:txBody>
          <a:bodyPr>
            <a:normAutofit fontScale="90000"/>
          </a:bodyPr>
          <a:lstStyle/>
          <a:p>
            <a:r>
              <a:rPr lang="en-IN" dirty="0"/>
              <a:t>Title Page</a:t>
            </a:r>
          </a:p>
        </p:txBody>
      </p:sp>
      <p:sp>
        <p:nvSpPr>
          <p:cNvPr id="3" name="Subtitle 2">
            <a:extLst>
              <a:ext uri="{FF2B5EF4-FFF2-40B4-BE49-F238E27FC236}">
                <a16:creationId xmlns:a16="http://schemas.microsoft.com/office/drawing/2014/main" id="{D462B3DA-2EB6-57F7-124F-23E441A5787E}"/>
              </a:ext>
            </a:extLst>
          </p:cNvPr>
          <p:cNvSpPr>
            <a:spLocks noGrp="1"/>
          </p:cNvSpPr>
          <p:nvPr>
            <p:ph type="subTitle" idx="1"/>
          </p:nvPr>
        </p:nvSpPr>
        <p:spPr>
          <a:xfrm>
            <a:off x="752354" y="1979271"/>
            <a:ext cx="4114614" cy="3278529"/>
          </a:xfrm>
        </p:spPr>
        <p:txBody>
          <a:bodyPr>
            <a:normAutofit lnSpcReduction="10000"/>
          </a:bodyPr>
          <a:lstStyle/>
          <a:p>
            <a:pPr marL="342900" indent="-342900" algn="l">
              <a:buFont typeface="Arial" panose="020B0604020202020204" pitchFamily="34" charset="0"/>
              <a:buChar char="•"/>
            </a:pPr>
            <a:r>
              <a:rPr lang="en-IN" sz="1800" dirty="0">
                <a:solidFill>
                  <a:schemeClr val="bg1"/>
                </a:solidFill>
              </a:rPr>
              <a:t>Problem Statement ID –  </a:t>
            </a:r>
            <a:r>
              <a:rPr lang="en-IN" sz="2200" dirty="0">
                <a:solidFill>
                  <a:schemeClr val="accent4">
                    <a:lumMod val="75000"/>
                  </a:schemeClr>
                </a:solidFill>
              </a:rPr>
              <a:t>17</a:t>
            </a:r>
            <a:br>
              <a:rPr lang="en-IN" sz="1800" dirty="0">
                <a:solidFill>
                  <a:schemeClr val="bg1"/>
                </a:solidFill>
              </a:rPr>
            </a:br>
            <a:endParaRPr lang="en-IN" sz="1800" dirty="0">
              <a:solidFill>
                <a:schemeClr val="bg1"/>
              </a:solidFill>
            </a:endParaRPr>
          </a:p>
          <a:p>
            <a:pPr marL="342900" indent="-342900" algn="l">
              <a:buFont typeface="Arial" panose="020B0604020202020204" pitchFamily="34" charset="0"/>
              <a:buChar char="•"/>
            </a:pPr>
            <a:r>
              <a:rPr lang="en-IN" sz="1800" dirty="0">
                <a:solidFill>
                  <a:schemeClr val="bg1"/>
                </a:solidFill>
              </a:rPr>
              <a:t>Problem Statement Title – </a:t>
            </a:r>
            <a:r>
              <a:rPr lang="en-IN" sz="2200" dirty="0">
                <a:solidFill>
                  <a:schemeClr val="accent4">
                    <a:lumMod val="75000"/>
                  </a:schemeClr>
                </a:solidFill>
              </a:rPr>
              <a:t>Automated Littering Detection and Alert System for Public Spaces</a:t>
            </a:r>
          </a:p>
          <a:p>
            <a:pPr algn="l"/>
            <a:endParaRPr lang="en-IN" sz="1800" dirty="0">
              <a:solidFill>
                <a:schemeClr val="bg1"/>
              </a:solidFill>
            </a:endParaRPr>
          </a:p>
          <a:p>
            <a:pPr marL="342900" indent="-342900" algn="l">
              <a:buFont typeface="Arial" panose="020B0604020202020204" pitchFamily="34" charset="0"/>
              <a:buChar char="•"/>
            </a:pPr>
            <a:r>
              <a:rPr lang="en-IN" sz="1800" dirty="0">
                <a:solidFill>
                  <a:schemeClr val="bg1"/>
                </a:solidFill>
              </a:rPr>
              <a:t>Theme – </a:t>
            </a:r>
            <a:r>
              <a:rPr lang="en-IN" sz="2200" dirty="0" err="1">
                <a:solidFill>
                  <a:schemeClr val="accent4">
                    <a:lumMod val="75000"/>
                  </a:schemeClr>
                </a:solidFill>
              </a:rPr>
              <a:t>Enviroment</a:t>
            </a:r>
            <a:endParaRPr lang="en-IN" sz="2200" dirty="0">
              <a:solidFill>
                <a:schemeClr val="bg1"/>
              </a:solidFill>
            </a:endParaRPr>
          </a:p>
          <a:p>
            <a:pPr marL="342900" indent="-342900" algn="l">
              <a:buFont typeface="Arial" panose="020B0604020202020204" pitchFamily="34" charset="0"/>
              <a:buChar char="•"/>
            </a:pPr>
            <a:endParaRPr lang="en-IN" sz="1800" dirty="0">
              <a:solidFill>
                <a:schemeClr val="bg1"/>
              </a:solidFill>
            </a:endParaRPr>
          </a:p>
          <a:p>
            <a:pPr marL="342900" indent="-342900" algn="l">
              <a:buFont typeface="Arial" panose="020B0604020202020204" pitchFamily="34" charset="0"/>
              <a:buChar char="•"/>
            </a:pPr>
            <a:r>
              <a:rPr lang="en-IN" sz="1800" dirty="0">
                <a:solidFill>
                  <a:schemeClr val="bg1"/>
                </a:solidFill>
              </a:rPr>
              <a:t>Team Name – </a:t>
            </a:r>
            <a:r>
              <a:rPr lang="en-IN" sz="2200" dirty="0">
                <a:solidFill>
                  <a:schemeClr val="accent4">
                    <a:lumMod val="75000"/>
                  </a:schemeClr>
                </a:solidFill>
              </a:rPr>
              <a:t>Hello PyWorld</a:t>
            </a:r>
          </a:p>
        </p:txBody>
      </p:sp>
    </p:spTree>
    <p:extLst>
      <p:ext uri="{BB962C8B-B14F-4D97-AF65-F5344CB8AC3E}">
        <p14:creationId xmlns:p14="http://schemas.microsoft.com/office/powerpoint/2010/main" val="3225351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B6A09-52DF-5F2B-5389-A98626ACD49F}"/>
              </a:ext>
            </a:extLst>
          </p:cNvPr>
          <p:cNvSpPr>
            <a:spLocks noGrp="1"/>
          </p:cNvSpPr>
          <p:nvPr>
            <p:ph type="title"/>
          </p:nvPr>
        </p:nvSpPr>
        <p:spPr>
          <a:xfrm>
            <a:off x="2072640" y="33812"/>
            <a:ext cx="4861560" cy="1294449"/>
          </a:xfrm>
        </p:spPr>
        <p:txBody>
          <a:bodyPr/>
          <a:lstStyle/>
          <a:p>
            <a:pPr algn="ctr"/>
            <a:r>
              <a:rPr lang="en-IN" dirty="0">
                <a:solidFill>
                  <a:schemeClr val="bg1"/>
                </a:solidFill>
              </a:rPr>
              <a:t>Idea Title</a:t>
            </a:r>
          </a:p>
        </p:txBody>
      </p:sp>
      <p:sp>
        <p:nvSpPr>
          <p:cNvPr id="10" name="Footer Placeholder 9">
            <a:extLst>
              <a:ext uri="{FF2B5EF4-FFF2-40B4-BE49-F238E27FC236}">
                <a16:creationId xmlns:a16="http://schemas.microsoft.com/office/drawing/2014/main" id="{2291EC72-26AB-1010-9CF2-60E76BF8BEF2}"/>
              </a:ext>
            </a:extLst>
          </p:cNvPr>
          <p:cNvSpPr>
            <a:spLocks noGrp="1"/>
          </p:cNvSpPr>
          <p:nvPr>
            <p:ph type="ftr" sz="quarter" idx="11"/>
          </p:nvPr>
        </p:nvSpPr>
        <p:spPr/>
        <p:txBody>
          <a:bodyPr/>
          <a:lstStyle/>
          <a:p>
            <a:r>
              <a:rPr lang="en-IN"/>
              <a:t>NextGenHack Idea Submission - Template</a:t>
            </a:r>
          </a:p>
        </p:txBody>
      </p:sp>
      <p:sp>
        <p:nvSpPr>
          <p:cNvPr id="11" name="Slide Number Placeholder 10">
            <a:extLst>
              <a:ext uri="{FF2B5EF4-FFF2-40B4-BE49-F238E27FC236}">
                <a16:creationId xmlns:a16="http://schemas.microsoft.com/office/drawing/2014/main" id="{3BA0961A-3F87-B099-238E-61487C8B5D21}"/>
              </a:ext>
            </a:extLst>
          </p:cNvPr>
          <p:cNvSpPr>
            <a:spLocks noGrp="1"/>
          </p:cNvSpPr>
          <p:nvPr>
            <p:ph type="sldNum" sz="quarter" idx="12"/>
          </p:nvPr>
        </p:nvSpPr>
        <p:spPr/>
        <p:txBody>
          <a:bodyPr/>
          <a:lstStyle/>
          <a:p>
            <a:fld id="{0C827B39-C601-484C-8A0D-4FD82261B79A}" type="slidenum">
              <a:rPr lang="en-IN" smtClean="0"/>
              <a:t>2</a:t>
            </a:fld>
            <a:endParaRPr lang="en-IN"/>
          </a:p>
        </p:txBody>
      </p:sp>
      <p:sp>
        <p:nvSpPr>
          <p:cNvPr id="7" name="TextBox 6">
            <a:extLst>
              <a:ext uri="{FF2B5EF4-FFF2-40B4-BE49-F238E27FC236}">
                <a16:creationId xmlns:a16="http://schemas.microsoft.com/office/drawing/2014/main" id="{0ABA16CB-0964-6A71-A7E3-A68600A96D17}"/>
              </a:ext>
            </a:extLst>
          </p:cNvPr>
          <p:cNvSpPr txBox="1"/>
          <p:nvPr/>
        </p:nvSpPr>
        <p:spPr>
          <a:xfrm>
            <a:off x="446894" y="314060"/>
            <a:ext cx="849630" cy="553998"/>
          </a:xfrm>
          <a:prstGeom prst="rect">
            <a:avLst/>
          </a:prstGeom>
          <a:noFill/>
        </p:spPr>
        <p:txBody>
          <a:bodyPr wrap="square" rtlCol="0">
            <a:spAutoFit/>
          </a:bodyPr>
          <a:lstStyle/>
          <a:p>
            <a:pPr algn="ctr"/>
            <a:r>
              <a:rPr lang="en-IN" sz="1500" dirty="0"/>
              <a:t>Hello PyWorld</a:t>
            </a:r>
          </a:p>
        </p:txBody>
      </p:sp>
      <p:sp>
        <p:nvSpPr>
          <p:cNvPr id="4" name="TextBox 3">
            <a:extLst>
              <a:ext uri="{FF2B5EF4-FFF2-40B4-BE49-F238E27FC236}">
                <a16:creationId xmlns:a16="http://schemas.microsoft.com/office/drawing/2014/main" id="{BE76FB6D-1626-CD58-D435-DBFA6439BA40}"/>
              </a:ext>
            </a:extLst>
          </p:cNvPr>
          <p:cNvSpPr txBox="1"/>
          <p:nvPr/>
        </p:nvSpPr>
        <p:spPr>
          <a:xfrm>
            <a:off x="135685" y="1580148"/>
            <a:ext cx="3403928" cy="5078313"/>
          </a:xfrm>
          <a:prstGeom prst="rect">
            <a:avLst/>
          </a:prstGeom>
          <a:noFill/>
        </p:spPr>
        <p:txBody>
          <a:bodyPr wrap="square" rtlCol="0">
            <a:spAutoFit/>
          </a:bodyPr>
          <a:lstStyle/>
          <a:p>
            <a:r>
              <a:rPr lang="en-US" dirty="0">
                <a:solidFill>
                  <a:schemeClr val="accent1"/>
                </a:solidFill>
              </a:rPr>
              <a:t>PROBLEM STATEMENT :</a:t>
            </a:r>
          </a:p>
          <a:p>
            <a:r>
              <a:rPr lang="en-US" dirty="0"/>
              <a:t>Littering is a major urban problem that costs cities millions in cleanup and harms public health and the environment. Although CCTV cameras capture incidents, the lack of automation means footage is reviewed manually, offenders remain unidentified, and no actionable data is generated.</a:t>
            </a:r>
          </a:p>
          <a:p>
            <a:endParaRPr lang="en-US" dirty="0"/>
          </a:p>
          <a:p>
            <a:r>
              <a:rPr lang="en-US" b="1" dirty="0"/>
              <a:t>THE RESULT – </a:t>
            </a:r>
            <a:r>
              <a:rPr lang="en-IN" b="1" dirty="0"/>
              <a:t>TRACE(Trash Recognition &amp; Automated Civic Enforcement)</a:t>
            </a:r>
            <a:r>
              <a:rPr lang="en-IN" dirty="0"/>
              <a:t> turns the existing CCTV network into an active enforcement and analytics platform.</a:t>
            </a:r>
          </a:p>
          <a:p>
            <a:endParaRPr lang="en-US" b="1" dirty="0"/>
          </a:p>
        </p:txBody>
      </p:sp>
      <p:sp>
        <p:nvSpPr>
          <p:cNvPr id="6" name="TextBox 5">
            <a:extLst>
              <a:ext uri="{FF2B5EF4-FFF2-40B4-BE49-F238E27FC236}">
                <a16:creationId xmlns:a16="http://schemas.microsoft.com/office/drawing/2014/main" id="{8F3DE3CF-8278-1CDD-66AF-BC33EEBFEC1A}"/>
              </a:ext>
            </a:extLst>
          </p:cNvPr>
          <p:cNvSpPr txBox="1"/>
          <p:nvPr/>
        </p:nvSpPr>
        <p:spPr>
          <a:xfrm>
            <a:off x="3785419" y="1259435"/>
            <a:ext cx="5222896" cy="5355312"/>
          </a:xfrm>
          <a:prstGeom prst="rect">
            <a:avLst/>
          </a:prstGeom>
          <a:noFill/>
        </p:spPr>
        <p:txBody>
          <a:bodyPr wrap="square" rtlCol="0">
            <a:spAutoFit/>
          </a:bodyPr>
          <a:lstStyle/>
          <a:p>
            <a:r>
              <a:rPr lang="en-US" dirty="0">
                <a:solidFill>
                  <a:schemeClr val="accent1"/>
                </a:solidFill>
              </a:rPr>
              <a:t>IDEA/SOLUTION :</a:t>
            </a:r>
          </a:p>
          <a:p>
            <a:r>
              <a:rPr lang="en-IN" sz="1700" b="1" dirty="0"/>
              <a:t>TRACE</a:t>
            </a:r>
            <a:r>
              <a:rPr lang="en-IN" sz="1700" dirty="0"/>
              <a:t> is a real-time AI surveillance pipeline that plugs directly into existing CCTV cameras and solves this problem end-to-end. The system automatically:</a:t>
            </a:r>
          </a:p>
          <a:p>
            <a:pPr marL="285750" indent="-285750">
              <a:buFont typeface="Arial" panose="020B0604020202020204" pitchFamily="34" charset="0"/>
              <a:buChar char="•"/>
            </a:pPr>
            <a:r>
              <a:rPr lang="en-US" sz="1700" dirty="0"/>
              <a:t>Detects litter using custom-trained </a:t>
            </a:r>
            <a:r>
              <a:rPr lang="en-US" sz="1700" b="1" dirty="0"/>
              <a:t>YOLOv8s</a:t>
            </a:r>
            <a:r>
              <a:rPr lang="en-US" sz="1700" dirty="0"/>
              <a:t> </a:t>
            </a:r>
            <a:r>
              <a:rPr lang="en-US" sz="1700" b="1" dirty="0"/>
              <a:t>model</a:t>
            </a:r>
            <a:r>
              <a:rPr lang="en-US" sz="1700" dirty="0"/>
              <a:t> </a:t>
            </a:r>
            <a:r>
              <a:rPr lang="en-US" sz="1700" b="1" dirty="0"/>
              <a:t>(mAP50 = 0.81),(Precision:0.84)</a:t>
            </a:r>
          </a:p>
          <a:p>
            <a:pPr marL="285750" indent="-285750">
              <a:buFont typeface="Arial" panose="020B0604020202020204" pitchFamily="34" charset="0"/>
              <a:buChar char="•"/>
            </a:pPr>
            <a:r>
              <a:rPr lang="en-US" sz="1700" dirty="0"/>
              <a:t>Tracks trash across frames with </a:t>
            </a:r>
            <a:r>
              <a:rPr lang="en-US" sz="1700" b="1" dirty="0"/>
              <a:t>ByteTrack</a:t>
            </a:r>
            <a:r>
              <a:rPr lang="en-US" sz="1700" dirty="0"/>
              <a:t> using persistent IDs</a:t>
            </a:r>
          </a:p>
          <a:p>
            <a:pPr marL="285750" indent="-285750">
              <a:buFont typeface="Arial" panose="020B0604020202020204" pitchFamily="34" charset="0"/>
              <a:buChar char="•"/>
            </a:pPr>
            <a:r>
              <a:rPr lang="en-US" sz="1700" dirty="0"/>
              <a:t>Uses a 5-state machine to confirm litter abandonment</a:t>
            </a:r>
          </a:p>
          <a:p>
            <a:pPr marL="285750" indent="-285750">
              <a:buFont typeface="Arial" panose="020B0604020202020204" pitchFamily="34" charset="0"/>
              <a:buChar char="•"/>
            </a:pPr>
            <a:r>
              <a:rPr lang="en-US" sz="1700" dirty="0"/>
              <a:t>Identifies offenders </a:t>
            </a:r>
            <a:r>
              <a:rPr lang="en-US" sz="1700" b="1" dirty="0"/>
              <a:t>(pedestrian or vehicle) </a:t>
            </a:r>
            <a:r>
              <a:rPr lang="en-US" sz="1700" dirty="0"/>
              <a:t>with </a:t>
            </a:r>
            <a:r>
              <a:rPr lang="en-US" sz="1700" b="1" dirty="0"/>
              <a:t>timestamped photo evidence</a:t>
            </a:r>
          </a:p>
          <a:p>
            <a:pPr marL="285750" indent="-285750">
              <a:buFont typeface="Arial" panose="020B0604020202020204" pitchFamily="34" charset="0"/>
              <a:buChar char="•"/>
            </a:pPr>
            <a:r>
              <a:rPr lang="en-US" sz="1700" dirty="0"/>
              <a:t>Reads Indian license plates using </a:t>
            </a:r>
            <a:r>
              <a:rPr lang="en-US" sz="1700" b="1" dirty="0"/>
              <a:t>EasyOCR</a:t>
            </a:r>
            <a:r>
              <a:rPr lang="en-US" sz="1700" dirty="0"/>
              <a:t> with </a:t>
            </a:r>
            <a:r>
              <a:rPr lang="en-US" sz="1700" b="1" dirty="0"/>
              <a:t>character correction</a:t>
            </a:r>
          </a:p>
          <a:p>
            <a:pPr marL="285750" indent="-285750">
              <a:buFont typeface="Arial" panose="020B0604020202020204" pitchFamily="34" charset="0"/>
              <a:buChar char="•"/>
            </a:pPr>
            <a:r>
              <a:rPr lang="en-US" sz="1700" dirty="0"/>
              <a:t>Logs confirmed incidents to a </a:t>
            </a:r>
            <a:r>
              <a:rPr lang="en-US" sz="1700" b="1" dirty="0"/>
              <a:t>FastAPI</a:t>
            </a:r>
            <a:r>
              <a:rPr lang="en-US" sz="1700" dirty="0"/>
              <a:t> + </a:t>
            </a:r>
            <a:r>
              <a:rPr lang="en-US" sz="1700" b="1" dirty="0"/>
              <a:t>SQLite</a:t>
            </a:r>
            <a:r>
              <a:rPr lang="en-US" sz="1700" dirty="0"/>
              <a:t> backend with full metadata</a:t>
            </a:r>
          </a:p>
          <a:p>
            <a:pPr marL="285750" indent="-285750">
              <a:buFont typeface="Arial" panose="020B0604020202020204" pitchFamily="34" charset="0"/>
              <a:buChar char="•"/>
            </a:pPr>
            <a:r>
              <a:rPr lang="en-US" sz="1700" dirty="0"/>
              <a:t>Streams live annotated video via </a:t>
            </a:r>
            <a:r>
              <a:rPr lang="en-US" sz="1700" b="1" dirty="0"/>
              <a:t>MJPEG </a:t>
            </a:r>
            <a:r>
              <a:rPr lang="en-US" sz="1700" dirty="0"/>
              <a:t>to a surveillance dashboard</a:t>
            </a:r>
          </a:p>
          <a:p>
            <a:pPr marL="285750" indent="-285750">
              <a:buFont typeface="Arial" panose="020B0604020202020204" pitchFamily="34" charset="0"/>
              <a:buChar char="•"/>
            </a:pPr>
            <a:r>
              <a:rPr lang="en-US" sz="1700" dirty="0"/>
              <a:t>Displays </a:t>
            </a:r>
            <a:r>
              <a:rPr lang="en-US" sz="1700" b="1" dirty="0"/>
              <a:t>incidents, trash types, pie charts, history, and repeat offenders</a:t>
            </a:r>
            <a:r>
              <a:rPr lang="en-US" sz="1700" dirty="0"/>
              <a:t> in a real-time dashboard</a:t>
            </a:r>
          </a:p>
          <a:p>
            <a:pPr marL="285750" indent="-285750">
              <a:buFont typeface="Arial" panose="020B0604020202020204" pitchFamily="34" charset="0"/>
              <a:buChar char="•"/>
            </a:pPr>
            <a:endParaRPr lang="en-IN" dirty="0">
              <a:solidFill>
                <a:schemeClr val="accent1"/>
              </a:solidFill>
            </a:endParaRPr>
          </a:p>
        </p:txBody>
      </p:sp>
      <p:sp>
        <p:nvSpPr>
          <p:cNvPr id="17" name="Rectangle 16">
            <a:extLst>
              <a:ext uri="{FF2B5EF4-FFF2-40B4-BE49-F238E27FC236}">
                <a16:creationId xmlns:a16="http://schemas.microsoft.com/office/drawing/2014/main" id="{E0349C79-C765-C10D-FEA7-A3355D885D1E}"/>
              </a:ext>
            </a:extLst>
          </p:cNvPr>
          <p:cNvSpPr/>
          <p:nvPr/>
        </p:nvSpPr>
        <p:spPr>
          <a:xfrm>
            <a:off x="135685" y="1580147"/>
            <a:ext cx="3403928" cy="4776203"/>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6B1C348A-1942-6C95-AD36-0E974661AF84}"/>
              </a:ext>
            </a:extLst>
          </p:cNvPr>
          <p:cNvSpPr/>
          <p:nvPr/>
        </p:nvSpPr>
        <p:spPr>
          <a:xfrm>
            <a:off x="3731833" y="1259435"/>
            <a:ext cx="5276482" cy="509691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18750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D1098-F6EF-0BE3-E512-FAFC441F1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1C580-15EA-E30C-E52D-C6A704A6DDCC}"/>
              </a:ext>
            </a:extLst>
          </p:cNvPr>
          <p:cNvSpPr>
            <a:spLocks noGrp="1"/>
          </p:cNvSpPr>
          <p:nvPr>
            <p:ph type="title"/>
          </p:nvPr>
        </p:nvSpPr>
        <p:spPr>
          <a:xfrm>
            <a:off x="2072640" y="33812"/>
            <a:ext cx="4861560" cy="1294449"/>
          </a:xfrm>
        </p:spPr>
        <p:txBody>
          <a:bodyPr/>
          <a:lstStyle/>
          <a:p>
            <a:pPr algn="ctr"/>
            <a:r>
              <a:rPr lang="en-IN" dirty="0">
                <a:solidFill>
                  <a:schemeClr val="bg1"/>
                </a:solidFill>
              </a:rPr>
              <a:t>Technical Approach</a:t>
            </a:r>
          </a:p>
        </p:txBody>
      </p:sp>
      <p:sp>
        <p:nvSpPr>
          <p:cNvPr id="4" name="TextBox 3">
            <a:extLst>
              <a:ext uri="{FF2B5EF4-FFF2-40B4-BE49-F238E27FC236}">
                <a16:creationId xmlns:a16="http://schemas.microsoft.com/office/drawing/2014/main" id="{E54A8670-DBA3-9C2F-3FD0-39A83CE1F6B2}"/>
              </a:ext>
            </a:extLst>
          </p:cNvPr>
          <p:cNvSpPr txBox="1"/>
          <p:nvPr/>
        </p:nvSpPr>
        <p:spPr>
          <a:xfrm>
            <a:off x="446895" y="314061"/>
            <a:ext cx="849630" cy="553998"/>
          </a:xfrm>
          <a:prstGeom prst="rect">
            <a:avLst/>
          </a:prstGeom>
          <a:noFill/>
        </p:spPr>
        <p:txBody>
          <a:bodyPr wrap="square" rtlCol="0">
            <a:spAutoFit/>
          </a:bodyPr>
          <a:lstStyle/>
          <a:p>
            <a:pPr algn="ctr"/>
            <a:r>
              <a:rPr lang="en-IN" sz="1500" dirty="0"/>
              <a:t>Hello PyWorld</a:t>
            </a:r>
          </a:p>
        </p:txBody>
      </p:sp>
      <p:sp>
        <p:nvSpPr>
          <p:cNvPr id="10" name="Footer Placeholder 9">
            <a:extLst>
              <a:ext uri="{FF2B5EF4-FFF2-40B4-BE49-F238E27FC236}">
                <a16:creationId xmlns:a16="http://schemas.microsoft.com/office/drawing/2014/main" id="{4BC85CBC-66A0-486D-3F30-B9376B3215BD}"/>
              </a:ext>
            </a:extLst>
          </p:cNvPr>
          <p:cNvSpPr>
            <a:spLocks noGrp="1"/>
          </p:cNvSpPr>
          <p:nvPr>
            <p:ph type="ftr" sz="quarter" idx="11"/>
          </p:nvPr>
        </p:nvSpPr>
        <p:spPr/>
        <p:txBody>
          <a:bodyPr/>
          <a:lstStyle/>
          <a:p>
            <a:r>
              <a:rPr lang="en-IN"/>
              <a:t>NextGenHack Idea Submission - Template</a:t>
            </a:r>
          </a:p>
        </p:txBody>
      </p:sp>
      <p:sp>
        <p:nvSpPr>
          <p:cNvPr id="11" name="Slide Number Placeholder 10">
            <a:extLst>
              <a:ext uri="{FF2B5EF4-FFF2-40B4-BE49-F238E27FC236}">
                <a16:creationId xmlns:a16="http://schemas.microsoft.com/office/drawing/2014/main" id="{CBC2A522-5EF1-106B-F202-9D69F5415B4E}"/>
              </a:ext>
            </a:extLst>
          </p:cNvPr>
          <p:cNvSpPr>
            <a:spLocks noGrp="1"/>
          </p:cNvSpPr>
          <p:nvPr>
            <p:ph type="sldNum" sz="quarter" idx="12"/>
          </p:nvPr>
        </p:nvSpPr>
        <p:spPr/>
        <p:txBody>
          <a:bodyPr/>
          <a:lstStyle/>
          <a:p>
            <a:fld id="{0C827B39-C601-484C-8A0D-4FD82261B79A}" type="slidenum">
              <a:rPr lang="en-IN" smtClean="0"/>
              <a:t>3</a:t>
            </a:fld>
            <a:endParaRPr lang="en-IN"/>
          </a:p>
        </p:txBody>
      </p:sp>
      <p:sp>
        <p:nvSpPr>
          <p:cNvPr id="6" name="Rectangle 5">
            <a:extLst>
              <a:ext uri="{FF2B5EF4-FFF2-40B4-BE49-F238E27FC236}">
                <a16:creationId xmlns:a16="http://schemas.microsoft.com/office/drawing/2014/main" id="{6A19EE55-8614-F4CF-93E0-AC95FD06DDDE}"/>
              </a:ext>
            </a:extLst>
          </p:cNvPr>
          <p:cNvSpPr/>
          <p:nvPr/>
        </p:nvSpPr>
        <p:spPr>
          <a:xfrm>
            <a:off x="5397911" y="1249605"/>
            <a:ext cx="3477526" cy="255454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32A8E9B-6FB7-8FA7-B5D7-2610C16B674C}"/>
              </a:ext>
            </a:extLst>
          </p:cNvPr>
          <p:cNvSpPr txBox="1"/>
          <p:nvPr/>
        </p:nvSpPr>
        <p:spPr>
          <a:xfrm>
            <a:off x="6150074" y="3765792"/>
            <a:ext cx="1971369" cy="369332"/>
          </a:xfrm>
          <a:prstGeom prst="rect">
            <a:avLst/>
          </a:prstGeom>
          <a:noFill/>
        </p:spPr>
        <p:txBody>
          <a:bodyPr wrap="square" rtlCol="0">
            <a:spAutoFit/>
          </a:bodyPr>
          <a:lstStyle/>
          <a:p>
            <a:r>
              <a:rPr lang="en-US" dirty="0">
                <a:solidFill>
                  <a:schemeClr val="accent1"/>
                </a:solidFill>
              </a:rPr>
              <a:t>PROTOTYPE IMAGE </a:t>
            </a:r>
            <a:endParaRPr lang="en-IN" dirty="0">
              <a:solidFill>
                <a:schemeClr val="accent1"/>
              </a:solidFill>
            </a:endParaRPr>
          </a:p>
        </p:txBody>
      </p:sp>
      <p:pic>
        <p:nvPicPr>
          <p:cNvPr id="12" name="Picture 11">
            <a:extLst>
              <a:ext uri="{FF2B5EF4-FFF2-40B4-BE49-F238E27FC236}">
                <a16:creationId xmlns:a16="http://schemas.microsoft.com/office/drawing/2014/main" id="{8BC47DDA-0F89-7DE8-3974-042A74715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2438" y="4145917"/>
            <a:ext cx="3982065" cy="2230098"/>
          </a:xfrm>
          <a:prstGeom prst="rect">
            <a:avLst/>
          </a:prstGeom>
        </p:spPr>
      </p:pic>
      <p:sp>
        <p:nvSpPr>
          <p:cNvPr id="13" name="TextBox 12">
            <a:extLst>
              <a:ext uri="{FF2B5EF4-FFF2-40B4-BE49-F238E27FC236}">
                <a16:creationId xmlns:a16="http://schemas.microsoft.com/office/drawing/2014/main" id="{6F773B10-A923-5F27-6BD0-09C489B15293}"/>
              </a:ext>
            </a:extLst>
          </p:cNvPr>
          <p:cNvSpPr txBox="1"/>
          <p:nvPr/>
        </p:nvSpPr>
        <p:spPr>
          <a:xfrm>
            <a:off x="196644" y="1258527"/>
            <a:ext cx="2192593" cy="369332"/>
          </a:xfrm>
          <a:prstGeom prst="rect">
            <a:avLst/>
          </a:prstGeom>
          <a:noFill/>
        </p:spPr>
        <p:txBody>
          <a:bodyPr wrap="square" rtlCol="0">
            <a:spAutoFit/>
          </a:bodyPr>
          <a:lstStyle/>
          <a:p>
            <a:r>
              <a:rPr lang="en-US" dirty="0">
                <a:solidFill>
                  <a:schemeClr val="accent1"/>
                </a:solidFill>
              </a:rPr>
              <a:t>FLOW DIAGRAM :</a:t>
            </a:r>
            <a:endParaRPr lang="en-IN" dirty="0">
              <a:solidFill>
                <a:schemeClr val="accent1"/>
              </a:solidFill>
            </a:endParaRPr>
          </a:p>
        </p:txBody>
      </p:sp>
      <p:sp>
        <p:nvSpPr>
          <p:cNvPr id="14" name="Rectangle 13">
            <a:extLst>
              <a:ext uri="{FF2B5EF4-FFF2-40B4-BE49-F238E27FC236}">
                <a16:creationId xmlns:a16="http://schemas.microsoft.com/office/drawing/2014/main" id="{C88B0EEB-12AD-F1D1-68BA-0AB48F4B603C}"/>
              </a:ext>
            </a:extLst>
          </p:cNvPr>
          <p:cNvSpPr/>
          <p:nvPr/>
        </p:nvSpPr>
        <p:spPr>
          <a:xfrm>
            <a:off x="58285" y="1257934"/>
            <a:ext cx="4946334" cy="5098417"/>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404EE39A-7BCB-C4FB-6C71-2EF01D3D052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4813" y1="63333" x2="54813" y2="63333"/>
                        <a14:foregroundMark x1="54813" y1="71667" x2="54813" y2="71667"/>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457950" y="1554073"/>
            <a:ext cx="361393" cy="231910"/>
          </a:xfrm>
          <a:prstGeom prst="rect">
            <a:avLst/>
          </a:prstGeom>
        </p:spPr>
      </p:pic>
      <p:pic>
        <p:nvPicPr>
          <p:cNvPr id="18" name="Picture 17">
            <a:extLst>
              <a:ext uri="{FF2B5EF4-FFF2-40B4-BE49-F238E27FC236}">
                <a16:creationId xmlns:a16="http://schemas.microsoft.com/office/drawing/2014/main" id="{E6659290-0DD1-1612-E210-B47C2A01C3E3}"/>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544501" y="1779885"/>
            <a:ext cx="188290" cy="231910"/>
          </a:xfrm>
          <a:prstGeom prst="rect">
            <a:avLst/>
          </a:prstGeom>
        </p:spPr>
      </p:pic>
      <p:pic>
        <p:nvPicPr>
          <p:cNvPr id="21" name="Picture 20">
            <a:extLst>
              <a:ext uri="{FF2B5EF4-FFF2-40B4-BE49-F238E27FC236}">
                <a16:creationId xmlns:a16="http://schemas.microsoft.com/office/drawing/2014/main" id="{14594C68-FAD1-9149-8CB6-BB3D1D52FEA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26367" y1="46289" x2="26367" y2="46289"/>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6526134" y="2022588"/>
            <a:ext cx="231910" cy="231910"/>
          </a:xfrm>
          <a:prstGeom prst="rect">
            <a:avLst/>
          </a:prstGeom>
        </p:spPr>
      </p:pic>
      <p:pic>
        <p:nvPicPr>
          <p:cNvPr id="23" name="Picture 22">
            <a:extLst>
              <a:ext uri="{FF2B5EF4-FFF2-40B4-BE49-F238E27FC236}">
                <a16:creationId xmlns:a16="http://schemas.microsoft.com/office/drawing/2014/main" id="{D019F5BC-1473-60BA-21F7-F354D6595BBE}"/>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6464820" y="2208694"/>
            <a:ext cx="347651" cy="347651"/>
          </a:xfrm>
          <a:prstGeom prst="rect">
            <a:avLst/>
          </a:prstGeom>
        </p:spPr>
      </p:pic>
      <p:pic>
        <p:nvPicPr>
          <p:cNvPr id="25" name="Picture 24">
            <a:extLst>
              <a:ext uri="{FF2B5EF4-FFF2-40B4-BE49-F238E27FC236}">
                <a16:creationId xmlns:a16="http://schemas.microsoft.com/office/drawing/2014/main" id="{02F60296-41CD-8E06-9975-1FB92BFE558B}"/>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0000" b="90000" l="10000" r="90000">
                        <a14:foregroundMark x1="34000" y1="48517" x2="34000" y2="48517"/>
                        <a14:foregroundMark x1="41333" y1="47881" x2="41333" y2="47881"/>
                        <a14:foregroundMark x1="47222" y1="47669" x2="47222" y2="47669"/>
                        <a14:foregroundMark x1="44778" y1="51907" x2="44778" y2="51907"/>
                        <a14:foregroundMark x1="47444" y1="52542" x2="47444" y2="52542"/>
                        <a14:foregroundMark x1="51556" y1="49576" x2="51556" y2="49576"/>
                        <a14:foregroundMark x1="54556" y1="48093" x2="54556" y2="48093"/>
                        <a14:foregroundMark x1="52556" y1="47881" x2="52556" y2="47881"/>
                        <a14:foregroundMark x1="57889" y1="49153" x2="57889" y2="49153"/>
                        <a14:foregroundMark x1="61333" y1="50212" x2="61333" y2="50212"/>
                        <a14:foregroundMark x1="39333" y1="47881" x2="39333" y2="47881"/>
                        <a14:foregroundMark x1="66778" y1="48941" x2="66778" y2="48941"/>
                        <a14:backgroundMark x1="39111" y1="53390" x2="39111" y2="53390"/>
                        <a14:backgroundMark x1="37667" y1="48517" x2="37667" y2="48517"/>
                        <a14:backgroundMark x1="32889" y1="47246" x2="32889" y2="47246"/>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6606500" y="2364506"/>
            <a:ext cx="902013" cy="587716"/>
          </a:xfrm>
          <a:prstGeom prst="rect">
            <a:avLst/>
          </a:prstGeom>
        </p:spPr>
      </p:pic>
      <p:pic>
        <p:nvPicPr>
          <p:cNvPr id="27" name="Picture 26">
            <a:extLst>
              <a:ext uri="{FF2B5EF4-FFF2-40B4-BE49-F238E27FC236}">
                <a16:creationId xmlns:a16="http://schemas.microsoft.com/office/drawing/2014/main" id="{75E3B8CE-DE7F-B62C-ABFA-C7FBF87840D5}"/>
              </a:ext>
            </a:extLst>
          </p:cNvPr>
          <p:cNvPicPr>
            <a:picLocks noChangeAspect="1"/>
          </p:cNvPicPr>
          <p:nvPr/>
        </p:nvPicPr>
        <p:blipFill>
          <a:blip r:embed="rId16">
            <a:extLst>
              <a:ext uri="{BEBA8EAE-BF5A-486C-A8C5-ECC9F3942E4B}">
                <a14:imgProps xmlns:a14="http://schemas.microsoft.com/office/drawing/2010/main">
                  <a14:imgLayer r:embed="rId17">
                    <a14:imgEffect>
                      <a14:backgroundRemoval t="10000" b="90000" l="10000" r="90000">
                        <a14:foregroundMark x1="52801" y1="66191" x2="52801" y2="66191"/>
                        <a14:foregroundMark x1="53221" y1="67210" x2="53221" y2="67210"/>
                        <a14:foregroundMark x1="53922" y1="69450" x2="53922" y2="69450"/>
                        <a14:foregroundMark x1="53922" y1="70265" x2="53922" y2="70265"/>
                        <a14:foregroundMark x1="51541" y1="70265" x2="51541" y2="70265"/>
                        <a14:foregroundMark x1="55042" y1="67821" x2="55042" y2="67821"/>
                        <a14:foregroundMark x1="58403" y1="68635" x2="58403" y2="68635"/>
                        <a14:foregroundMark x1="48739" y1="69043" x2="48739" y2="69043"/>
                        <a14:foregroundMark x1="47339" y1="67821" x2="47339" y2="67821"/>
                        <a14:foregroundMark x1="46078" y1="68228" x2="46078" y2="68228"/>
                        <a14:foregroundMark x1="42017" y1="68228" x2="42017" y2="68228"/>
                        <a14:foregroundMark x1="45518" y1="67006" x2="45518" y2="67006"/>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8"/>
              </a:ext>
            </a:extLst>
          </a:blip>
          <a:stretch>
            <a:fillRect/>
          </a:stretch>
        </p:blipFill>
        <p:spPr>
          <a:xfrm>
            <a:off x="6310619" y="2629443"/>
            <a:ext cx="656052" cy="451150"/>
          </a:xfrm>
          <a:prstGeom prst="rect">
            <a:avLst/>
          </a:prstGeom>
        </p:spPr>
      </p:pic>
      <p:grpSp>
        <p:nvGrpSpPr>
          <p:cNvPr id="29" name="Group 28">
            <a:extLst>
              <a:ext uri="{FF2B5EF4-FFF2-40B4-BE49-F238E27FC236}">
                <a16:creationId xmlns:a16="http://schemas.microsoft.com/office/drawing/2014/main" id="{9C022FE5-989C-5E79-0CB7-C7400C415745}"/>
              </a:ext>
            </a:extLst>
          </p:cNvPr>
          <p:cNvGrpSpPr/>
          <p:nvPr/>
        </p:nvGrpSpPr>
        <p:grpSpPr>
          <a:xfrm>
            <a:off x="5397911" y="1229886"/>
            <a:ext cx="3709715" cy="1815882"/>
            <a:chOff x="5397911" y="1229886"/>
            <a:chExt cx="3709715" cy="1815882"/>
          </a:xfrm>
        </p:grpSpPr>
        <p:sp>
          <p:nvSpPr>
            <p:cNvPr id="5" name="TextBox 4">
              <a:extLst>
                <a:ext uri="{FF2B5EF4-FFF2-40B4-BE49-F238E27FC236}">
                  <a16:creationId xmlns:a16="http://schemas.microsoft.com/office/drawing/2014/main" id="{889CA441-B19E-F231-57E2-F5C106AF6DE7}"/>
                </a:ext>
              </a:extLst>
            </p:cNvPr>
            <p:cNvSpPr txBox="1"/>
            <p:nvPr/>
          </p:nvSpPr>
          <p:spPr>
            <a:xfrm>
              <a:off x="5397911" y="1229886"/>
              <a:ext cx="3274635" cy="1815882"/>
            </a:xfrm>
            <a:prstGeom prst="rect">
              <a:avLst/>
            </a:prstGeom>
            <a:noFill/>
          </p:spPr>
          <p:txBody>
            <a:bodyPr wrap="square" rtlCol="0">
              <a:spAutoFit/>
            </a:bodyPr>
            <a:lstStyle/>
            <a:p>
              <a:r>
                <a:rPr lang="en-US" sz="1600" dirty="0">
                  <a:solidFill>
                    <a:schemeClr val="accent1"/>
                  </a:solidFill>
                </a:rPr>
                <a:t>TECHNOLOGY STACK :</a:t>
              </a:r>
            </a:p>
            <a:p>
              <a:pPr marL="285750" indent="-285750">
                <a:buFont typeface="Arial" panose="020B0604020202020204" pitchFamily="34" charset="0"/>
                <a:buChar char="•"/>
              </a:pPr>
              <a:r>
                <a:rPr lang="en-US" sz="1600" b="1" dirty="0"/>
                <a:t>Python</a:t>
              </a:r>
            </a:p>
            <a:p>
              <a:pPr marL="285750" indent="-285750">
                <a:buFont typeface="Arial" panose="020B0604020202020204" pitchFamily="34" charset="0"/>
                <a:buChar char="•"/>
              </a:pPr>
              <a:r>
                <a:rPr lang="en-US" sz="1600" b="1" dirty="0"/>
                <a:t>OpenCV</a:t>
              </a:r>
            </a:p>
            <a:p>
              <a:pPr marL="285750" indent="-285750">
                <a:buFont typeface="Arial" panose="020B0604020202020204" pitchFamily="34" charset="0"/>
                <a:buChar char="•"/>
              </a:pPr>
              <a:r>
                <a:rPr lang="en-US" sz="1600" b="1" dirty="0"/>
                <a:t>YOLO v8</a:t>
              </a:r>
            </a:p>
            <a:p>
              <a:pPr marL="285750" indent="-285750">
                <a:buFont typeface="Arial" panose="020B0604020202020204" pitchFamily="34" charset="0"/>
                <a:buChar char="•"/>
              </a:pPr>
              <a:r>
                <a:rPr lang="en-US" sz="1600" b="1" dirty="0"/>
                <a:t>Numpy</a:t>
              </a:r>
            </a:p>
            <a:p>
              <a:pPr marL="285750" indent="-285750">
                <a:buFont typeface="Arial" panose="020B0604020202020204" pitchFamily="34" charset="0"/>
                <a:buChar char="•"/>
              </a:pPr>
              <a:r>
                <a:rPr lang="en-US" sz="1600" b="1" dirty="0"/>
                <a:t>SQLAlchemy</a:t>
              </a:r>
            </a:p>
            <a:p>
              <a:pPr marL="285750" indent="-285750">
                <a:buFont typeface="Arial" panose="020B0604020202020204" pitchFamily="34" charset="0"/>
                <a:buChar char="•"/>
              </a:pPr>
              <a:r>
                <a:rPr lang="en-US" sz="1600" b="1" dirty="0"/>
                <a:t>FastAPI</a:t>
              </a:r>
            </a:p>
          </p:txBody>
        </p:sp>
        <p:sp>
          <p:nvSpPr>
            <p:cNvPr id="28" name="TextBox 27">
              <a:extLst>
                <a:ext uri="{FF2B5EF4-FFF2-40B4-BE49-F238E27FC236}">
                  <a16:creationId xmlns:a16="http://schemas.microsoft.com/office/drawing/2014/main" id="{A8677528-BD9B-5F9C-88F3-B458E0369697}"/>
                </a:ext>
              </a:extLst>
            </p:cNvPr>
            <p:cNvSpPr txBox="1"/>
            <p:nvPr/>
          </p:nvSpPr>
          <p:spPr>
            <a:xfrm>
              <a:off x="7177546" y="1478743"/>
              <a:ext cx="1930080" cy="1292662"/>
            </a:xfrm>
            <a:prstGeom prst="rect">
              <a:avLst/>
            </a:prstGeom>
            <a:noFill/>
          </p:spPr>
          <p:txBody>
            <a:bodyPr wrap="square" rtlCol="0">
              <a:spAutoFit/>
            </a:bodyPr>
            <a:lstStyle/>
            <a:p>
              <a:pPr marL="285750" indent="-285750">
                <a:buFont typeface="Arial" panose="020B0604020202020204" pitchFamily="34" charset="0"/>
                <a:buChar char="•"/>
              </a:pPr>
              <a:r>
                <a:rPr lang="en-US" sz="1600" b="1" dirty="0"/>
                <a:t>EasyOCR</a:t>
              </a:r>
            </a:p>
            <a:p>
              <a:pPr marL="285750" indent="-285750">
                <a:buFont typeface="Arial" panose="020B0604020202020204" pitchFamily="34" charset="0"/>
                <a:buChar char="•"/>
              </a:pPr>
              <a:r>
                <a:rPr lang="en-US" sz="1600" b="1" dirty="0"/>
                <a:t>HTML</a:t>
              </a:r>
            </a:p>
            <a:p>
              <a:pPr marL="285750" indent="-285750">
                <a:buFont typeface="Arial" panose="020B0604020202020204" pitchFamily="34" charset="0"/>
                <a:buChar char="•"/>
              </a:pPr>
              <a:r>
                <a:rPr lang="en-US" sz="1600" b="1" dirty="0"/>
                <a:t>CSS</a:t>
              </a:r>
            </a:p>
            <a:p>
              <a:pPr marL="285750" indent="-285750">
                <a:buFont typeface="Arial" panose="020B0604020202020204" pitchFamily="34" charset="0"/>
                <a:buChar char="•"/>
              </a:pPr>
              <a:r>
                <a:rPr lang="en-US" sz="1600" b="1" dirty="0"/>
                <a:t>Java Script</a:t>
              </a:r>
            </a:p>
            <a:p>
              <a:endParaRPr lang="en-IN" sz="1400" dirty="0"/>
            </a:p>
          </p:txBody>
        </p:sp>
      </p:grpSp>
      <p:pic>
        <p:nvPicPr>
          <p:cNvPr id="31" name="Picture 30">
            <a:extLst>
              <a:ext uri="{FF2B5EF4-FFF2-40B4-BE49-F238E27FC236}">
                <a16:creationId xmlns:a16="http://schemas.microsoft.com/office/drawing/2014/main" id="{AB537455-51C1-B696-C64F-CA3101E73EC1}"/>
              </a:ext>
            </a:extLst>
          </p:cNvPr>
          <p:cNvPicPr>
            <a:picLocks noChangeAspect="1"/>
          </p:cNvPicPr>
          <p:nvPr/>
        </p:nvPicPr>
        <p:blipFill>
          <a:blip r:embed="rId19">
            <a:extLst>
              <a:ext uri="{28A0092B-C50C-407E-A947-70E740481C1C}">
                <a14:useLocalDpi xmlns:a14="http://schemas.microsoft.com/office/drawing/2010/main" val="0"/>
              </a:ext>
              <a:ext uri="{837473B0-CC2E-450A-ABE3-18F120FF3D39}">
                <a1611:picAttrSrcUrl xmlns:a1611="http://schemas.microsoft.com/office/drawing/2016/11/main" r:id="rId20"/>
              </a:ext>
            </a:extLst>
          </a:blip>
          <a:stretch>
            <a:fillRect/>
          </a:stretch>
        </p:blipFill>
        <p:spPr>
          <a:xfrm>
            <a:off x="8316427" y="1521902"/>
            <a:ext cx="282551" cy="211913"/>
          </a:xfrm>
          <a:prstGeom prst="rect">
            <a:avLst/>
          </a:prstGeom>
        </p:spPr>
      </p:pic>
      <p:pic>
        <p:nvPicPr>
          <p:cNvPr id="33" name="Picture 32">
            <a:extLst>
              <a:ext uri="{FF2B5EF4-FFF2-40B4-BE49-F238E27FC236}">
                <a16:creationId xmlns:a16="http://schemas.microsoft.com/office/drawing/2014/main" id="{948DE5F7-E10F-3CC1-1353-3E17377AB5B2}"/>
              </a:ext>
            </a:extLst>
          </p:cNvPr>
          <p:cNvPicPr>
            <a:picLocks noChangeAspect="1"/>
          </p:cNvPicPr>
          <p:nvPr/>
        </p:nvPicPr>
        <p:blipFill>
          <a:blip r:embed="rId21">
            <a:extLst>
              <a:ext uri="{BEBA8EAE-BF5A-486C-A8C5-ECC9F3942E4B}">
                <a14:imgProps xmlns:a14="http://schemas.microsoft.com/office/drawing/2010/main">
                  <a14:imgLayer r:embed="rId22">
                    <a14:imgEffect>
                      <a14:backgroundRemoval t="8223" b="91630" l="10000" r="90000">
                        <a14:foregroundMark x1="45952" y1="8370" x2="45952" y2="8370"/>
                        <a14:foregroundMark x1="52262" y1="91630" x2="52262" y2="91630"/>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23"/>
              </a:ext>
            </a:extLst>
          </a:blip>
          <a:stretch>
            <a:fillRect/>
          </a:stretch>
        </p:blipFill>
        <p:spPr>
          <a:xfrm>
            <a:off x="8064525" y="1772868"/>
            <a:ext cx="282551" cy="229068"/>
          </a:xfrm>
          <a:prstGeom prst="rect">
            <a:avLst/>
          </a:prstGeom>
        </p:spPr>
      </p:pic>
      <p:pic>
        <p:nvPicPr>
          <p:cNvPr id="35" name="Picture 34">
            <a:extLst>
              <a:ext uri="{FF2B5EF4-FFF2-40B4-BE49-F238E27FC236}">
                <a16:creationId xmlns:a16="http://schemas.microsoft.com/office/drawing/2014/main" id="{83A85E91-E30C-E0B9-A73B-FC99D0CA8D1D}"/>
              </a:ext>
            </a:extLst>
          </p:cNvPr>
          <p:cNvPicPr>
            <a:picLocks noChangeAspect="1"/>
          </p:cNvPicPr>
          <p:nvPr/>
        </p:nvPicPr>
        <p:blipFill>
          <a:blip r:embed="rId24">
            <a:extLst>
              <a:ext uri="{BEBA8EAE-BF5A-486C-A8C5-ECC9F3942E4B}">
                <a14:imgProps xmlns:a14="http://schemas.microsoft.com/office/drawing/2010/main">
                  <a14:imgLayer r:embed="rId25">
                    <a14:imgEffect>
                      <a14:backgroundRemoval t="9779" b="96857" l="10000" r="90000">
                        <a14:foregroundMark x1="37857" y1="93481" x2="37857" y2="93481"/>
                        <a14:foregroundMark x1="49524" y1="96857" x2="49524" y2="96857"/>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26"/>
              </a:ext>
            </a:extLst>
          </a:blip>
          <a:stretch>
            <a:fillRect/>
          </a:stretch>
        </p:blipFill>
        <p:spPr>
          <a:xfrm>
            <a:off x="7879380" y="2028242"/>
            <a:ext cx="221252" cy="226256"/>
          </a:xfrm>
          <a:prstGeom prst="rect">
            <a:avLst/>
          </a:prstGeom>
        </p:spPr>
      </p:pic>
      <p:pic>
        <p:nvPicPr>
          <p:cNvPr id="37" name="Picture 36">
            <a:extLst>
              <a:ext uri="{FF2B5EF4-FFF2-40B4-BE49-F238E27FC236}">
                <a16:creationId xmlns:a16="http://schemas.microsoft.com/office/drawing/2014/main" id="{5168484A-1C67-3184-10D5-6C14A1E08BF6}"/>
              </a:ext>
            </a:extLst>
          </p:cNvPr>
          <p:cNvPicPr>
            <a:picLocks noChangeAspect="1"/>
          </p:cNvPicPr>
          <p:nvPr/>
        </p:nvPicPr>
        <p:blipFill>
          <a:blip r:embed="rId27">
            <a:extLst>
              <a:ext uri="{BEBA8EAE-BF5A-486C-A8C5-ECC9F3942E4B}">
                <a14:imgProps xmlns:a14="http://schemas.microsoft.com/office/drawing/2010/main">
                  <a14:imgLayer r:embed="rId28">
                    <a14:imgEffect>
                      <a14:backgroundRemoval t="9762" b="94832" l="4881" r="94762">
                        <a14:foregroundMark x1="26786" y1="35849" x2="26786" y2="35849"/>
                        <a14:foregroundMark x1="4881" y1="25349" x2="4881" y2="25349"/>
                        <a14:foregroundMark x1="94762" y1="26661" x2="94762" y2="26661"/>
                        <a14:foregroundMark x1="48333" y1="94832" x2="48333" y2="94832"/>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29"/>
              </a:ext>
            </a:extLst>
          </a:blip>
          <a:stretch>
            <a:fillRect/>
          </a:stretch>
        </p:blipFill>
        <p:spPr>
          <a:xfrm>
            <a:off x="8515350" y="2254498"/>
            <a:ext cx="201752" cy="292780"/>
          </a:xfrm>
          <a:prstGeom prst="rect">
            <a:avLst/>
          </a:prstGeom>
        </p:spPr>
      </p:pic>
      <p:pic>
        <p:nvPicPr>
          <p:cNvPr id="39" name="Picture 38">
            <a:extLst>
              <a:ext uri="{FF2B5EF4-FFF2-40B4-BE49-F238E27FC236}">
                <a16:creationId xmlns:a16="http://schemas.microsoft.com/office/drawing/2014/main" id="{FB7E6B15-D698-BCB4-AF02-EF0E5E91A7BA}"/>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76793" y="2364506"/>
            <a:ext cx="4773108" cy="2603513"/>
          </a:xfrm>
          <a:prstGeom prst="rect">
            <a:avLst/>
          </a:prstGeom>
        </p:spPr>
      </p:pic>
    </p:spTree>
    <p:extLst>
      <p:ext uri="{BB962C8B-B14F-4D97-AF65-F5344CB8AC3E}">
        <p14:creationId xmlns:p14="http://schemas.microsoft.com/office/powerpoint/2010/main" val="493463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F590-8CE7-CA3C-D2A6-18F4EBCA0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B0F99-7EFD-DE13-C5E0-33819BB78E98}"/>
              </a:ext>
            </a:extLst>
          </p:cNvPr>
          <p:cNvSpPr>
            <a:spLocks noGrp="1"/>
          </p:cNvSpPr>
          <p:nvPr>
            <p:ph type="title"/>
          </p:nvPr>
        </p:nvSpPr>
        <p:spPr>
          <a:xfrm>
            <a:off x="2072640" y="33812"/>
            <a:ext cx="4861560" cy="1294449"/>
          </a:xfrm>
        </p:spPr>
        <p:txBody>
          <a:bodyPr>
            <a:normAutofit/>
          </a:bodyPr>
          <a:lstStyle/>
          <a:p>
            <a:pPr algn="ctr"/>
            <a:r>
              <a:rPr lang="en-IN" dirty="0">
                <a:solidFill>
                  <a:schemeClr val="bg1"/>
                </a:solidFill>
              </a:rPr>
              <a:t>Feasibility &amp; Viability</a:t>
            </a:r>
          </a:p>
        </p:txBody>
      </p:sp>
      <p:sp>
        <p:nvSpPr>
          <p:cNvPr id="10" name="Footer Placeholder 9">
            <a:extLst>
              <a:ext uri="{FF2B5EF4-FFF2-40B4-BE49-F238E27FC236}">
                <a16:creationId xmlns:a16="http://schemas.microsoft.com/office/drawing/2014/main" id="{28A15242-9DB8-2907-7596-67D2C106C3B1}"/>
              </a:ext>
            </a:extLst>
          </p:cNvPr>
          <p:cNvSpPr>
            <a:spLocks noGrp="1"/>
          </p:cNvSpPr>
          <p:nvPr>
            <p:ph type="ftr" sz="quarter" idx="11"/>
          </p:nvPr>
        </p:nvSpPr>
        <p:spPr/>
        <p:txBody>
          <a:bodyPr/>
          <a:lstStyle/>
          <a:p>
            <a:r>
              <a:rPr lang="en-IN"/>
              <a:t>NextGenHack Idea Submission - Template</a:t>
            </a:r>
          </a:p>
        </p:txBody>
      </p:sp>
      <p:sp>
        <p:nvSpPr>
          <p:cNvPr id="11" name="Slide Number Placeholder 10">
            <a:extLst>
              <a:ext uri="{FF2B5EF4-FFF2-40B4-BE49-F238E27FC236}">
                <a16:creationId xmlns:a16="http://schemas.microsoft.com/office/drawing/2014/main" id="{26F932E2-9FA2-0CA7-E99E-384F435A46CD}"/>
              </a:ext>
            </a:extLst>
          </p:cNvPr>
          <p:cNvSpPr>
            <a:spLocks noGrp="1"/>
          </p:cNvSpPr>
          <p:nvPr>
            <p:ph type="sldNum" sz="quarter" idx="12"/>
          </p:nvPr>
        </p:nvSpPr>
        <p:spPr/>
        <p:txBody>
          <a:bodyPr/>
          <a:lstStyle/>
          <a:p>
            <a:fld id="{0C827B39-C601-484C-8A0D-4FD82261B79A}" type="slidenum">
              <a:rPr lang="en-IN" smtClean="0"/>
              <a:t>4</a:t>
            </a:fld>
            <a:endParaRPr lang="en-IN"/>
          </a:p>
        </p:txBody>
      </p:sp>
      <p:sp>
        <p:nvSpPr>
          <p:cNvPr id="5" name="TextBox 4">
            <a:extLst>
              <a:ext uri="{FF2B5EF4-FFF2-40B4-BE49-F238E27FC236}">
                <a16:creationId xmlns:a16="http://schemas.microsoft.com/office/drawing/2014/main" id="{547212E8-A32B-4F48-00A7-702CC81BB7C9}"/>
              </a:ext>
            </a:extLst>
          </p:cNvPr>
          <p:cNvSpPr txBox="1"/>
          <p:nvPr/>
        </p:nvSpPr>
        <p:spPr>
          <a:xfrm>
            <a:off x="446893" y="314061"/>
            <a:ext cx="849630" cy="553998"/>
          </a:xfrm>
          <a:prstGeom prst="rect">
            <a:avLst/>
          </a:prstGeom>
          <a:noFill/>
        </p:spPr>
        <p:txBody>
          <a:bodyPr wrap="square" rtlCol="0">
            <a:spAutoFit/>
          </a:bodyPr>
          <a:lstStyle/>
          <a:p>
            <a:pPr algn="ctr"/>
            <a:r>
              <a:rPr lang="en-IN" sz="1500" dirty="0"/>
              <a:t>Hello PyWorld</a:t>
            </a:r>
          </a:p>
        </p:txBody>
      </p:sp>
      <p:sp>
        <p:nvSpPr>
          <p:cNvPr id="4" name="TextBox 3">
            <a:extLst>
              <a:ext uri="{FF2B5EF4-FFF2-40B4-BE49-F238E27FC236}">
                <a16:creationId xmlns:a16="http://schemas.microsoft.com/office/drawing/2014/main" id="{0A71F27C-24EE-3C57-17AF-C4208C657E4E}"/>
              </a:ext>
            </a:extLst>
          </p:cNvPr>
          <p:cNvSpPr txBox="1"/>
          <p:nvPr/>
        </p:nvSpPr>
        <p:spPr>
          <a:xfrm>
            <a:off x="127821" y="1356209"/>
            <a:ext cx="3844411" cy="4970591"/>
          </a:xfrm>
          <a:prstGeom prst="rect">
            <a:avLst/>
          </a:prstGeom>
          <a:noFill/>
        </p:spPr>
        <p:txBody>
          <a:bodyPr wrap="square" rtlCol="0">
            <a:spAutoFit/>
          </a:bodyPr>
          <a:lstStyle/>
          <a:p>
            <a:r>
              <a:rPr lang="en-US" dirty="0">
                <a:solidFill>
                  <a:schemeClr val="accent1"/>
                </a:solidFill>
              </a:rPr>
              <a:t>FEASIBILITY :</a:t>
            </a:r>
          </a:p>
          <a:p>
            <a:pPr marL="285750" lvl="0" indent="-285750">
              <a:buFont typeface="Arial" panose="020B0604020202020204" pitchFamily="34" charset="0"/>
              <a:buChar char="•"/>
            </a:pPr>
            <a:r>
              <a:rPr lang="en-US" sz="1300" b="1" dirty="0"/>
              <a:t>State-machine-based temporal reasoning</a:t>
            </a:r>
            <a:r>
              <a:rPr lang="en-US" sz="1300" dirty="0"/>
              <a:t> correctly distinguishes carrying vs abandonment, with </a:t>
            </a:r>
            <a:r>
              <a:rPr lang="en-US" sz="1300" b="1" dirty="0"/>
              <a:t>verified false-positive cancellation.</a:t>
            </a:r>
          </a:p>
          <a:p>
            <a:pPr marL="285750" lvl="0" indent="-285750">
              <a:buFont typeface="Arial" panose="020B0604020202020204" pitchFamily="34" charset="0"/>
              <a:buChar char="•"/>
            </a:pPr>
            <a:r>
              <a:rPr lang="en-US" sz="1300" b="1" dirty="0" err="1"/>
              <a:t>EasyOCR</a:t>
            </a:r>
            <a:r>
              <a:rPr lang="en-US" sz="1300" b="1" dirty="0"/>
              <a:t>-based Indian license plate recognition</a:t>
            </a:r>
            <a:r>
              <a:rPr lang="en-US" sz="1300" dirty="0"/>
              <a:t> with preprocessing and character-position correction.</a:t>
            </a:r>
          </a:p>
          <a:p>
            <a:pPr marL="285750" lvl="0" indent="-285750">
              <a:buFont typeface="Arial" panose="020B0604020202020204" pitchFamily="34" charset="0"/>
              <a:buChar char="•"/>
            </a:pPr>
            <a:r>
              <a:rPr lang="en-IN" sz="1300" b="1" dirty="0" err="1"/>
              <a:t>FastAPI</a:t>
            </a:r>
            <a:r>
              <a:rPr lang="en-IN" sz="1300" b="1" dirty="0"/>
              <a:t> backend with persistent storage (SQLite)</a:t>
            </a:r>
            <a:r>
              <a:rPr lang="en-IN" sz="1300" dirty="0"/>
              <a:t> handling incident ingestion, stats aggregation, and </a:t>
            </a:r>
            <a:r>
              <a:rPr lang="en-IN" sz="1300" b="1" dirty="0"/>
              <a:t>MJPEG stream </a:t>
            </a:r>
            <a:r>
              <a:rPr lang="en-IN" sz="1300" dirty="0"/>
              <a:t>relay.</a:t>
            </a:r>
          </a:p>
          <a:p>
            <a:pPr marL="285750" lvl="0" indent="-285750">
              <a:buFont typeface="Arial" panose="020B0604020202020204" pitchFamily="34" charset="0"/>
              <a:buChar char="•"/>
            </a:pPr>
            <a:r>
              <a:rPr lang="en-US" sz="1300" b="1" dirty="0"/>
              <a:t>Real-time surveillance dashboard</a:t>
            </a:r>
            <a:r>
              <a:rPr lang="en-US" sz="1300" dirty="0"/>
              <a:t> displaying </a:t>
            </a:r>
            <a:r>
              <a:rPr lang="en-US" sz="1300" b="1" dirty="0"/>
              <a:t>live video feeds, dynamic charts, incident logs, and photographic evidence.</a:t>
            </a:r>
          </a:p>
          <a:p>
            <a:pPr marL="285750" lvl="0" indent="-285750">
              <a:buFont typeface="Arial" panose="020B0604020202020204" pitchFamily="34" charset="0"/>
              <a:buChar char="•"/>
            </a:pPr>
            <a:r>
              <a:rPr lang="en-US" sz="1300" b="1" dirty="0"/>
              <a:t>Multi-camera architecture with threaded pipeline design</a:t>
            </a:r>
            <a:r>
              <a:rPr lang="en-US" sz="1300" dirty="0"/>
              <a:t>, enabling </a:t>
            </a:r>
            <a:r>
              <a:rPr lang="en-US" sz="1300" b="1" dirty="0"/>
              <a:t>simultaneous real-time processing of multiple video streams.</a:t>
            </a:r>
          </a:p>
          <a:p>
            <a:pPr lvl="0"/>
            <a:endParaRPr lang="en-US" sz="1300" b="1" dirty="0"/>
          </a:p>
          <a:p>
            <a:pPr marL="285750" lvl="0" indent="-285750">
              <a:buFont typeface="Arial" panose="020B0604020202020204" pitchFamily="34" charset="0"/>
              <a:buChar char="•"/>
            </a:pPr>
            <a:r>
              <a:rPr lang="en-US" sz="1300" b="1" dirty="0"/>
              <a:t>Frame streaming fully decoupled from detection loop via multithreading</a:t>
            </a:r>
            <a:r>
              <a:rPr lang="en-US" sz="1300" dirty="0"/>
              <a:t>, ensuring </a:t>
            </a:r>
            <a:r>
              <a:rPr lang="en-US" sz="1300" b="1" dirty="0"/>
              <a:t>zero FPS degradation under network or dashboard.</a:t>
            </a:r>
          </a:p>
          <a:p>
            <a:pPr lvl="0"/>
            <a:endParaRPr lang="en-US" sz="1300" b="1" dirty="0"/>
          </a:p>
          <a:p>
            <a:pPr marL="285750" lvl="0" indent="-285750">
              <a:buFont typeface="Arial" panose="020B0604020202020204" pitchFamily="34" charset="0"/>
              <a:buChar char="•"/>
            </a:pPr>
            <a:r>
              <a:rPr lang="en-US" sz="1300" b="1" dirty="0"/>
              <a:t> Highly cost-effective compared to manual surveillance and legacy monitoring systems</a:t>
            </a:r>
            <a:r>
              <a:rPr lang="en-US" sz="1300" dirty="0"/>
              <a:t>, requiring </a:t>
            </a:r>
            <a:r>
              <a:rPr lang="en-US" sz="1300" b="1" dirty="0"/>
              <a:t>no additional hardware</a:t>
            </a:r>
            <a:endParaRPr lang="en-IN" sz="1300" dirty="0">
              <a:solidFill>
                <a:schemeClr val="accent1"/>
              </a:solidFill>
            </a:endParaRPr>
          </a:p>
        </p:txBody>
      </p:sp>
      <p:sp>
        <p:nvSpPr>
          <p:cNvPr id="6" name="TextBox 5">
            <a:extLst>
              <a:ext uri="{FF2B5EF4-FFF2-40B4-BE49-F238E27FC236}">
                <a16:creationId xmlns:a16="http://schemas.microsoft.com/office/drawing/2014/main" id="{D819035B-D659-A30C-D85D-18E5EF9C7DDD}"/>
              </a:ext>
            </a:extLst>
          </p:cNvPr>
          <p:cNvSpPr txBox="1"/>
          <p:nvPr/>
        </p:nvSpPr>
        <p:spPr>
          <a:xfrm>
            <a:off x="4174284" y="1239773"/>
            <a:ext cx="4841895" cy="2277547"/>
          </a:xfrm>
          <a:prstGeom prst="rect">
            <a:avLst/>
          </a:prstGeom>
          <a:noFill/>
        </p:spPr>
        <p:txBody>
          <a:bodyPr wrap="square" rtlCol="0">
            <a:spAutoFit/>
          </a:bodyPr>
          <a:lstStyle/>
          <a:p>
            <a:r>
              <a:rPr lang="en-US" sz="1600" dirty="0">
                <a:solidFill>
                  <a:schemeClr val="accent1"/>
                </a:solidFill>
              </a:rPr>
              <a:t>POTENTIAL CHALLENGES :</a:t>
            </a:r>
          </a:p>
          <a:p>
            <a:pPr marL="285750" indent="-285750">
              <a:buFont typeface="Arial" panose="020B0604020202020204" pitchFamily="34" charset="0"/>
              <a:buChar char="•"/>
            </a:pPr>
            <a:r>
              <a:rPr lang="en-US" sz="1400" dirty="0"/>
              <a:t>Reduced detection accuracy under low-light or adverse weather conditions</a:t>
            </a:r>
          </a:p>
          <a:p>
            <a:pPr marL="285750" indent="-285750">
              <a:buFont typeface="Arial" panose="020B0604020202020204" pitchFamily="34" charset="0"/>
              <a:buChar char="•"/>
            </a:pPr>
            <a:r>
              <a:rPr lang="en-US" sz="1400" dirty="0"/>
              <a:t>Variability in CCTV camera angles, positioning, and resolution</a:t>
            </a:r>
          </a:p>
          <a:p>
            <a:pPr marL="285750" indent="-285750">
              <a:buFont typeface="Arial" panose="020B0604020202020204" pitchFamily="34" charset="0"/>
              <a:buChar char="•"/>
            </a:pPr>
            <a:r>
              <a:rPr lang="en-US" sz="1400" dirty="0"/>
              <a:t>OCR inaccuracies due to unclear or damaged license plates</a:t>
            </a:r>
          </a:p>
          <a:p>
            <a:pPr marL="285750" indent="-285750">
              <a:buFont typeface="Arial" panose="020B0604020202020204" pitchFamily="34" charset="0"/>
              <a:buChar char="•"/>
            </a:pPr>
            <a:r>
              <a:rPr lang="en-US" sz="1400" dirty="0"/>
              <a:t>Server load and data storage management during large-scale deployment</a:t>
            </a:r>
          </a:p>
          <a:p>
            <a:pPr marL="285750" indent="-285750">
              <a:buFont typeface="Arial" panose="020B0604020202020204" pitchFamily="34" charset="0"/>
              <a:buChar char="•"/>
            </a:pPr>
            <a:r>
              <a:rPr lang="en-US" sz="1400" dirty="0"/>
              <a:t>Edge cases in object interaction understanding (occlusion, fast motion, partial visibility)</a:t>
            </a:r>
            <a:endParaRPr lang="en-IN" sz="1400" dirty="0">
              <a:solidFill>
                <a:schemeClr val="accent1"/>
              </a:solidFill>
            </a:endParaRPr>
          </a:p>
        </p:txBody>
      </p:sp>
      <p:sp>
        <p:nvSpPr>
          <p:cNvPr id="7" name="TextBox 6">
            <a:extLst>
              <a:ext uri="{FF2B5EF4-FFF2-40B4-BE49-F238E27FC236}">
                <a16:creationId xmlns:a16="http://schemas.microsoft.com/office/drawing/2014/main" id="{EE9050A8-B993-A3BB-8427-6F6F8A88D9B3}"/>
              </a:ext>
            </a:extLst>
          </p:cNvPr>
          <p:cNvSpPr txBox="1"/>
          <p:nvPr/>
        </p:nvSpPr>
        <p:spPr>
          <a:xfrm>
            <a:off x="4149214" y="3828923"/>
            <a:ext cx="4984954" cy="2462213"/>
          </a:xfrm>
          <a:prstGeom prst="rect">
            <a:avLst/>
          </a:prstGeom>
          <a:noFill/>
        </p:spPr>
        <p:txBody>
          <a:bodyPr wrap="square" rtlCol="0">
            <a:spAutoFit/>
          </a:bodyPr>
          <a:lstStyle/>
          <a:p>
            <a:r>
              <a:rPr lang="en-IN" dirty="0">
                <a:solidFill>
                  <a:schemeClr val="accent1"/>
                </a:solidFill>
              </a:rPr>
              <a:t>STRATEGIES TO OVERCOME THE  CHALLENGES :</a:t>
            </a:r>
          </a:p>
          <a:p>
            <a:pPr marL="285750" indent="-285750">
              <a:buFont typeface="Arial" panose="020B0604020202020204" pitchFamily="34" charset="0"/>
              <a:buChar char="•"/>
            </a:pPr>
            <a:r>
              <a:rPr lang="en-US" sz="1700" dirty="0"/>
              <a:t>Retraining model with diverse datasets </a:t>
            </a:r>
          </a:p>
          <a:p>
            <a:pPr marL="285750" indent="-285750">
              <a:buFont typeface="Arial" panose="020B0604020202020204" pitchFamily="34" charset="0"/>
              <a:buChar char="•"/>
            </a:pPr>
            <a:r>
              <a:rPr lang="en-IN" sz="1600" dirty="0"/>
              <a:t>Set </a:t>
            </a:r>
            <a:r>
              <a:rPr lang="en-US" sz="1700" dirty="0"/>
              <a:t>CCTV quality and placement standards</a:t>
            </a:r>
          </a:p>
          <a:p>
            <a:pPr marL="285750" indent="-285750">
              <a:buFont typeface="Arial" panose="020B0604020202020204" pitchFamily="34" charset="0"/>
              <a:buChar char="•"/>
            </a:pPr>
            <a:r>
              <a:rPr lang="en-US" sz="1700" dirty="0"/>
              <a:t>Advanced OCR post-processing and character correction algorithms</a:t>
            </a:r>
          </a:p>
          <a:p>
            <a:pPr marL="285750" indent="-285750">
              <a:buFont typeface="Arial" panose="020B0604020202020204" pitchFamily="34" charset="0"/>
              <a:buChar char="•"/>
            </a:pPr>
            <a:r>
              <a:rPr lang="en-US" sz="1700" dirty="0"/>
              <a:t>Cloud scalability with optimized video compression techniques</a:t>
            </a:r>
          </a:p>
          <a:p>
            <a:pPr marL="285750" indent="-285750">
              <a:buFont typeface="Arial" panose="020B0604020202020204" pitchFamily="34" charset="0"/>
              <a:buChar char="•"/>
            </a:pPr>
            <a:r>
              <a:rPr lang="en-US" sz="1700" dirty="0"/>
              <a:t>Routine performance monitoring and periodic system updates</a:t>
            </a:r>
            <a:endParaRPr lang="en-IN" sz="1700" dirty="0">
              <a:solidFill>
                <a:schemeClr val="accent1"/>
              </a:solidFill>
            </a:endParaRPr>
          </a:p>
        </p:txBody>
      </p:sp>
      <p:sp>
        <p:nvSpPr>
          <p:cNvPr id="12" name="Rectangle 11">
            <a:extLst>
              <a:ext uri="{FF2B5EF4-FFF2-40B4-BE49-F238E27FC236}">
                <a16:creationId xmlns:a16="http://schemas.microsoft.com/office/drawing/2014/main" id="{36B10174-C4DE-57A3-5E15-A455004AE1D6}"/>
              </a:ext>
            </a:extLst>
          </p:cNvPr>
          <p:cNvSpPr/>
          <p:nvPr/>
        </p:nvSpPr>
        <p:spPr>
          <a:xfrm>
            <a:off x="58285" y="1257934"/>
            <a:ext cx="3913947" cy="5098417"/>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61A80660-8AA2-2AE8-3D2A-E5ABAF84FDD3}"/>
              </a:ext>
            </a:extLst>
          </p:cNvPr>
          <p:cNvSpPr/>
          <p:nvPr/>
        </p:nvSpPr>
        <p:spPr>
          <a:xfrm>
            <a:off x="4112719" y="1257935"/>
            <a:ext cx="4984954" cy="2418198"/>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63B13C6B-C211-4F5D-24F8-0BA69EE04D3E}"/>
              </a:ext>
            </a:extLst>
          </p:cNvPr>
          <p:cNvSpPr/>
          <p:nvPr/>
        </p:nvSpPr>
        <p:spPr>
          <a:xfrm>
            <a:off x="4114313" y="3828923"/>
            <a:ext cx="4971402" cy="2527428"/>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57084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D8C2F-45F3-DE45-1892-FE0D77CE2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BD42F-20A0-530A-6F2C-355CEF606266}"/>
              </a:ext>
            </a:extLst>
          </p:cNvPr>
          <p:cNvSpPr>
            <a:spLocks noGrp="1"/>
          </p:cNvSpPr>
          <p:nvPr>
            <p:ph type="title"/>
          </p:nvPr>
        </p:nvSpPr>
        <p:spPr>
          <a:xfrm>
            <a:off x="2072640" y="33812"/>
            <a:ext cx="4861560" cy="1294449"/>
          </a:xfrm>
        </p:spPr>
        <p:txBody>
          <a:bodyPr/>
          <a:lstStyle/>
          <a:p>
            <a:pPr algn="ctr"/>
            <a:r>
              <a:rPr lang="en-IN" dirty="0">
                <a:solidFill>
                  <a:schemeClr val="bg1"/>
                </a:solidFill>
              </a:rPr>
              <a:t>Impact &amp; Benefits</a:t>
            </a:r>
          </a:p>
        </p:txBody>
      </p:sp>
      <p:sp>
        <p:nvSpPr>
          <p:cNvPr id="10" name="Footer Placeholder 9">
            <a:extLst>
              <a:ext uri="{FF2B5EF4-FFF2-40B4-BE49-F238E27FC236}">
                <a16:creationId xmlns:a16="http://schemas.microsoft.com/office/drawing/2014/main" id="{1C15D37E-F80C-4B16-EA71-7B6FAFA4B2DD}"/>
              </a:ext>
            </a:extLst>
          </p:cNvPr>
          <p:cNvSpPr>
            <a:spLocks noGrp="1"/>
          </p:cNvSpPr>
          <p:nvPr>
            <p:ph type="ftr" sz="quarter" idx="11"/>
          </p:nvPr>
        </p:nvSpPr>
        <p:spPr/>
        <p:txBody>
          <a:bodyPr/>
          <a:lstStyle/>
          <a:p>
            <a:r>
              <a:rPr lang="en-IN"/>
              <a:t>NextGenHack Idea Submission - Template</a:t>
            </a:r>
          </a:p>
        </p:txBody>
      </p:sp>
      <p:sp>
        <p:nvSpPr>
          <p:cNvPr id="11" name="Slide Number Placeholder 10">
            <a:extLst>
              <a:ext uri="{FF2B5EF4-FFF2-40B4-BE49-F238E27FC236}">
                <a16:creationId xmlns:a16="http://schemas.microsoft.com/office/drawing/2014/main" id="{AC596CC9-9601-C613-5FDD-24525CCBCD5F}"/>
              </a:ext>
            </a:extLst>
          </p:cNvPr>
          <p:cNvSpPr>
            <a:spLocks noGrp="1"/>
          </p:cNvSpPr>
          <p:nvPr>
            <p:ph type="sldNum" sz="quarter" idx="12"/>
          </p:nvPr>
        </p:nvSpPr>
        <p:spPr/>
        <p:txBody>
          <a:bodyPr/>
          <a:lstStyle/>
          <a:p>
            <a:fld id="{0C827B39-C601-484C-8A0D-4FD82261B79A}" type="slidenum">
              <a:rPr lang="en-IN" smtClean="0"/>
              <a:t>5</a:t>
            </a:fld>
            <a:endParaRPr lang="en-IN"/>
          </a:p>
        </p:txBody>
      </p:sp>
      <p:sp>
        <p:nvSpPr>
          <p:cNvPr id="5" name="TextBox 4">
            <a:extLst>
              <a:ext uri="{FF2B5EF4-FFF2-40B4-BE49-F238E27FC236}">
                <a16:creationId xmlns:a16="http://schemas.microsoft.com/office/drawing/2014/main" id="{51DB4108-3A15-3AA7-3A0A-9CF0E7DDB744}"/>
              </a:ext>
            </a:extLst>
          </p:cNvPr>
          <p:cNvSpPr txBox="1"/>
          <p:nvPr/>
        </p:nvSpPr>
        <p:spPr>
          <a:xfrm>
            <a:off x="446896" y="314061"/>
            <a:ext cx="849630" cy="553998"/>
          </a:xfrm>
          <a:prstGeom prst="rect">
            <a:avLst/>
          </a:prstGeom>
          <a:noFill/>
        </p:spPr>
        <p:txBody>
          <a:bodyPr wrap="square" rtlCol="0">
            <a:spAutoFit/>
          </a:bodyPr>
          <a:lstStyle/>
          <a:p>
            <a:pPr algn="ctr"/>
            <a:r>
              <a:rPr lang="en-IN" sz="1500" dirty="0"/>
              <a:t>Hello PyWorld</a:t>
            </a:r>
          </a:p>
        </p:txBody>
      </p:sp>
      <p:sp>
        <p:nvSpPr>
          <p:cNvPr id="4" name="TextBox 3">
            <a:extLst>
              <a:ext uri="{FF2B5EF4-FFF2-40B4-BE49-F238E27FC236}">
                <a16:creationId xmlns:a16="http://schemas.microsoft.com/office/drawing/2014/main" id="{AEA49020-42B2-04C4-A8D8-9F878C93988A}"/>
              </a:ext>
            </a:extLst>
          </p:cNvPr>
          <p:cNvSpPr txBox="1"/>
          <p:nvPr/>
        </p:nvSpPr>
        <p:spPr>
          <a:xfrm>
            <a:off x="181431" y="1426260"/>
            <a:ext cx="3928459" cy="4308872"/>
          </a:xfrm>
          <a:prstGeom prst="rect">
            <a:avLst/>
          </a:prstGeom>
          <a:noFill/>
        </p:spPr>
        <p:txBody>
          <a:bodyPr wrap="square" rtlCol="0">
            <a:spAutoFit/>
          </a:bodyPr>
          <a:lstStyle/>
          <a:p>
            <a:r>
              <a:rPr lang="en-IN" dirty="0">
                <a:solidFill>
                  <a:schemeClr val="accent1"/>
                </a:solidFill>
              </a:rPr>
              <a:t>For Municipalities &amp; Urban Bodies :</a:t>
            </a:r>
          </a:p>
          <a:p>
            <a:pPr marL="285750" lvl="0" indent="-285750">
              <a:buFont typeface="Arial" panose="020B0604020202020204" pitchFamily="34" charset="0"/>
              <a:buChar char="•"/>
            </a:pPr>
            <a:r>
              <a:rPr lang="en-IN" sz="1700" dirty="0"/>
              <a:t>Automated </a:t>
            </a:r>
            <a:r>
              <a:rPr lang="en-IN" sz="1700" b="1" dirty="0"/>
              <a:t>24/7</a:t>
            </a:r>
            <a:r>
              <a:rPr lang="en-IN" sz="1700" dirty="0"/>
              <a:t> </a:t>
            </a:r>
            <a:r>
              <a:rPr lang="en-IN" sz="1700" b="1" dirty="0"/>
              <a:t>monitoring</a:t>
            </a:r>
            <a:r>
              <a:rPr lang="en-IN" sz="1700" dirty="0"/>
              <a:t> eliminates dependence on manual CCTV review</a:t>
            </a:r>
          </a:p>
          <a:p>
            <a:pPr marL="285750" lvl="0" indent="-285750">
              <a:buFont typeface="Arial" panose="020B0604020202020204" pitchFamily="34" charset="0"/>
              <a:buChar char="•"/>
            </a:pPr>
            <a:r>
              <a:rPr lang="en-IN" sz="1700" b="1" dirty="0"/>
              <a:t>Timestamped</a:t>
            </a:r>
            <a:r>
              <a:rPr lang="en-IN" sz="1700" dirty="0"/>
              <a:t>, </a:t>
            </a:r>
            <a:r>
              <a:rPr lang="en-IN" sz="1700" b="1" dirty="0"/>
              <a:t>geo-tagged</a:t>
            </a:r>
            <a:r>
              <a:rPr lang="en-IN" sz="1700" dirty="0"/>
              <a:t> photographic evidence is legally admissible for enforcement proceedings.</a:t>
            </a:r>
          </a:p>
          <a:p>
            <a:pPr marL="285750" lvl="0" indent="-285750">
              <a:buFont typeface="Arial" panose="020B0604020202020204" pitchFamily="34" charset="0"/>
              <a:buChar char="•"/>
            </a:pPr>
            <a:r>
              <a:rPr lang="en-IN" sz="1700" b="1" dirty="0"/>
              <a:t>Repeat</a:t>
            </a:r>
            <a:r>
              <a:rPr lang="en-IN" sz="1700" dirty="0"/>
              <a:t> </a:t>
            </a:r>
            <a:r>
              <a:rPr lang="en-IN" sz="1700" b="1" dirty="0"/>
              <a:t>offender</a:t>
            </a:r>
            <a:r>
              <a:rPr lang="en-IN" sz="1700" dirty="0"/>
              <a:t> </a:t>
            </a:r>
            <a:r>
              <a:rPr lang="en-IN" sz="1700" b="1" dirty="0"/>
              <a:t>database</a:t>
            </a:r>
            <a:r>
              <a:rPr lang="en-IN" sz="1700" dirty="0"/>
              <a:t> enables escalating penalties and targeted enforcement</a:t>
            </a:r>
          </a:p>
          <a:p>
            <a:pPr marL="285750" lvl="0" indent="-285750">
              <a:buFont typeface="Arial" panose="020B0604020202020204" pitchFamily="34" charset="0"/>
              <a:buChar char="•"/>
            </a:pPr>
            <a:r>
              <a:rPr lang="en-IN" sz="1700" b="1" dirty="0"/>
              <a:t>7-day</a:t>
            </a:r>
            <a:r>
              <a:rPr lang="en-IN" sz="1700" dirty="0"/>
              <a:t> </a:t>
            </a:r>
            <a:r>
              <a:rPr lang="en-IN" sz="1700" b="1" dirty="0"/>
              <a:t>trend</a:t>
            </a:r>
            <a:r>
              <a:rPr lang="en-IN" sz="1700" dirty="0"/>
              <a:t> </a:t>
            </a:r>
            <a:r>
              <a:rPr lang="en-IN" sz="1700" b="1" dirty="0"/>
              <a:t>data</a:t>
            </a:r>
            <a:r>
              <a:rPr lang="en-IN" sz="1700" dirty="0"/>
              <a:t> informs staffing and route planning for cleaning services</a:t>
            </a:r>
          </a:p>
          <a:p>
            <a:pPr marL="285750" lvl="0" indent="-285750">
              <a:buFont typeface="Arial" panose="020B0604020202020204" pitchFamily="34" charset="0"/>
              <a:buChar char="•"/>
            </a:pPr>
            <a:r>
              <a:rPr lang="en-IN" sz="1700" b="1" dirty="0"/>
              <a:t>Dwell-time</a:t>
            </a:r>
            <a:r>
              <a:rPr lang="en-IN" sz="1700" dirty="0"/>
              <a:t> </a:t>
            </a:r>
            <a:r>
              <a:rPr lang="en-IN" sz="1700" b="1" dirty="0"/>
              <a:t>tracking</a:t>
            </a:r>
            <a:r>
              <a:rPr lang="en-IN" sz="1700" dirty="0"/>
              <a:t> shows how long litter remains on streets before being cleaned — a measurable KPI</a:t>
            </a:r>
          </a:p>
          <a:p>
            <a:pPr marL="285750" indent="-285750">
              <a:buFont typeface="Arial" panose="020B0604020202020204" pitchFamily="34" charset="0"/>
              <a:buChar char="•"/>
            </a:pPr>
            <a:endParaRPr lang="en-IN" dirty="0">
              <a:solidFill>
                <a:schemeClr val="accent1"/>
              </a:solidFill>
            </a:endParaRPr>
          </a:p>
        </p:txBody>
      </p:sp>
      <p:sp>
        <p:nvSpPr>
          <p:cNvPr id="6" name="TextBox 5">
            <a:extLst>
              <a:ext uri="{FF2B5EF4-FFF2-40B4-BE49-F238E27FC236}">
                <a16:creationId xmlns:a16="http://schemas.microsoft.com/office/drawing/2014/main" id="{4353624E-A720-E2CD-8DF8-FFE3DB94AFB0}"/>
              </a:ext>
            </a:extLst>
          </p:cNvPr>
          <p:cNvSpPr txBox="1"/>
          <p:nvPr/>
        </p:nvSpPr>
        <p:spPr>
          <a:xfrm>
            <a:off x="4316362" y="1278195"/>
            <a:ext cx="4636375" cy="2462213"/>
          </a:xfrm>
          <a:prstGeom prst="rect">
            <a:avLst/>
          </a:prstGeom>
          <a:noFill/>
        </p:spPr>
        <p:txBody>
          <a:bodyPr wrap="square" rtlCol="0">
            <a:spAutoFit/>
          </a:bodyPr>
          <a:lstStyle/>
          <a:p>
            <a:r>
              <a:rPr lang="en-IN" dirty="0">
                <a:solidFill>
                  <a:schemeClr val="accent1"/>
                </a:solidFill>
              </a:rPr>
              <a:t>For the Environment :</a:t>
            </a:r>
          </a:p>
          <a:p>
            <a:pPr marL="285750" lvl="0" indent="-285750">
              <a:buFont typeface="Arial" panose="020B0604020202020204" pitchFamily="34" charset="0"/>
              <a:buChar char="•"/>
            </a:pPr>
            <a:r>
              <a:rPr lang="en-US" sz="1700" dirty="0"/>
              <a:t>Visible AI surveillance discourages littering by strengthening enforcement credibility</a:t>
            </a:r>
          </a:p>
          <a:p>
            <a:pPr marL="285750" lvl="0" indent="-285750">
              <a:buFont typeface="Arial" panose="020B0604020202020204" pitchFamily="34" charset="0"/>
              <a:buChar char="•"/>
            </a:pPr>
            <a:r>
              <a:rPr lang="en-IN" sz="1700" b="1" dirty="0"/>
              <a:t>Faster</a:t>
            </a:r>
            <a:r>
              <a:rPr lang="en-IN" sz="1700" dirty="0"/>
              <a:t> </a:t>
            </a:r>
            <a:r>
              <a:rPr lang="en-IN" sz="1700" b="1" dirty="0"/>
              <a:t>detection</a:t>
            </a:r>
            <a:r>
              <a:rPr lang="en-IN" sz="1700" dirty="0"/>
              <a:t> </a:t>
            </a:r>
            <a:r>
              <a:rPr lang="en-IN" sz="1700" b="1" dirty="0"/>
              <a:t>and</a:t>
            </a:r>
            <a:r>
              <a:rPr lang="en-IN" sz="1700" dirty="0"/>
              <a:t> </a:t>
            </a:r>
            <a:r>
              <a:rPr lang="en-IN" sz="1700" b="1" dirty="0"/>
              <a:t>dispatch</a:t>
            </a:r>
            <a:r>
              <a:rPr lang="en-IN" sz="1700" dirty="0"/>
              <a:t> reduces litter dwell time, preventing accumulation and entry into storm drains and waterways</a:t>
            </a:r>
          </a:p>
          <a:p>
            <a:pPr marL="285750" indent="-285750">
              <a:buFont typeface="Arial" panose="020B0604020202020204" pitchFamily="34" charset="0"/>
              <a:buChar char="•"/>
            </a:pPr>
            <a:r>
              <a:rPr lang="en-US" sz="1700" dirty="0"/>
              <a:t>Identifies </a:t>
            </a:r>
            <a:r>
              <a:rPr lang="en-US" sz="1700" b="1" dirty="0"/>
              <a:t>dominant</a:t>
            </a:r>
            <a:r>
              <a:rPr lang="en-US" sz="1700" dirty="0"/>
              <a:t> </a:t>
            </a:r>
            <a:r>
              <a:rPr lang="en-US" sz="1700" b="1" dirty="0"/>
              <a:t>trash</a:t>
            </a:r>
            <a:r>
              <a:rPr lang="en-US" sz="1700" dirty="0"/>
              <a:t> </a:t>
            </a:r>
            <a:r>
              <a:rPr lang="en-US" sz="1700" b="1" dirty="0"/>
              <a:t>categories</a:t>
            </a:r>
            <a:r>
              <a:rPr lang="en-US" sz="1700" dirty="0"/>
              <a:t> in each zone to support targeted awareness campaigns</a:t>
            </a:r>
          </a:p>
          <a:p>
            <a:endParaRPr lang="en-IN" dirty="0">
              <a:solidFill>
                <a:schemeClr val="accent1"/>
              </a:solidFill>
            </a:endParaRPr>
          </a:p>
        </p:txBody>
      </p:sp>
      <p:sp>
        <p:nvSpPr>
          <p:cNvPr id="7" name="TextBox 6">
            <a:extLst>
              <a:ext uri="{FF2B5EF4-FFF2-40B4-BE49-F238E27FC236}">
                <a16:creationId xmlns:a16="http://schemas.microsoft.com/office/drawing/2014/main" id="{B70FFDE1-010A-5819-CAB3-612CC737EB78}"/>
              </a:ext>
            </a:extLst>
          </p:cNvPr>
          <p:cNvSpPr txBox="1"/>
          <p:nvPr/>
        </p:nvSpPr>
        <p:spPr>
          <a:xfrm>
            <a:off x="4268157" y="3632252"/>
            <a:ext cx="4861560" cy="3000821"/>
          </a:xfrm>
          <a:prstGeom prst="rect">
            <a:avLst/>
          </a:prstGeom>
          <a:noFill/>
        </p:spPr>
        <p:txBody>
          <a:bodyPr wrap="square" rtlCol="0">
            <a:spAutoFit/>
          </a:bodyPr>
          <a:lstStyle/>
          <a:p>
            <a:r>
              <a:rPr lang="en-IN" dirty="0">
                <a:solidFill>
                  <a:schemeClr val="accent1"/>
                </a:solidFill>
              </a:rPr>
              <a:t>For Existing Infrastructure :</a:t>
            </a:r>
          </a:p>
          <a:p>
            <a:pPr marL="285750" lvl="0" indent="-285750">
              <a:buFont typeface="Arial" panose="020B0604020202020204" pitchFamily="34" charset="0"/>
              <a:buChar char="•"/>
            </a:pPr>
            <a:r>
              <a:rPr lang="en-IN" sz="1700" b="1" dirty="0"/>
              <a:t>Zero</a:t>
            </a:r>
            <a:r>
              <a:rPr lang="en-IN" sz="1700" dirty="0"/>
              <a:t> </a:t>
            </a:r>
            <a:r>
              <a:rPr lang="en-IN" sz="1700" b="1" dirty="0"/>
              <a:t>new</a:t>
            </a:r>
            <a:r>
              <a:rPr lang="en-IN" sz="1700" dirty="0"/>
              <a:t> </a:t>
            </a:r>
            <a:r>
              <a:rPr lang="en-IN" sz="1700" b="1" dirty="0"/>
              <a:t>hardware</a:t>
            </a:r>
            <a:r>
              <a:rPr lang="en-IN" sz="1700" dirty="0"/>
              <a:t> required — integrates with any existing CCTV system via </a:t>
            </a:r>
            <a:r>
              <a:rPr lang="en-IN" sz="1700" b="1" dirty="0"/>
              <a:t>RTSP</a:t>
            </a:r>
          </a:p>
          <a:p>
            <a:pPr marL="285750" lvl="0" indent="-285750">
              <a:buFont typeface="Arial" panose="020B0604020202020204" pitchFamily="34" charset="0"/>
              <a:buChar char="•"/>
            </a:pPr>
            <a:r>
              <a:rPr lang="en-IN" sz="1700" b="1" dirty="0"/>
              <a:t>Open-source</a:t>
            </a:r>
            <a:r>
              <a:rPr lang="en-IN" sz="1700" dirty="0"/>
              <a:t> </a:t>
            </a:r>
            <a:r>
              <a:rPr lang="en-IN" sz="1700" b="1" dirty="0"/>
              <a:t>stack</a:t>
            </a:r>
            <a:r>
              <a:rPr lang="en-IN" sz="1700" dirty="0"/>
              <a:t> (Python, FastAPI, EasyOCR) keeps deployment and licensing costs near zero</a:t>
            </a:r>
          </a:p>
          <a:p>
            <a:pPr marL="285750" lvl="0" indent="-285750">
              <a:buFont typeface="Arial" panose="020B0604020202020204" pitchFamily="34" charset="0"/>
              <a:buChar char="•"/>
            </a:pPr>
            <a:r>
              <a:rPr lang="en-IN" sz="1700" dirty="0"/>
              <a:t>Maximises ROI on existing city surveillance investments that currently provide no analytical value</a:t>
            </a:r>
          </a:p>
          <a:p>
            <a:pPr marL="285750" lvl="0" indent="-285750">
              <a:buFont typeface="Arial" panose="020B0604020202020204" pitchFamily="34" charset="0"/>
              <a:buChar char="•"/>
            </a:pPr>
            <a:r>
              <a:rPr lang="en-IN" sz="1700" dirty="0"/>
              <a:t>Deployable by any municipality IT team — no specialised ML expertise required to operate</a:t>
            </a:r>
          </a:p>
          <a:p>
            <a:endParaRPr lang="en-IN" dirty="0">
              <a:solidFill>
                <a:schemeClr val="accent1"/>
              </a:solidFill>
            </a:endParaRPr>
          </a:p>
        </p:txBody>
      </p:sp>
      <p:sp>
        <p:nvSpPr>
          <p:cNvPr id="8" name="Rectangle 7">
            <a:extLst>
              <a:ext uri="{FF2B5EF4-FFF2-40B4-BE49-F238E27FC236}">
                <a16:creationId xmlns:a16="http://schemas.microsoft.com/office/drawing/2014/main" id="{8B882533-B22B-7181-A109-85C4A370A794}"/>
              </a:ext>
            </a:extLst>
          </p:cNvPr>
          <p:cNvSpPr/>
          <p:nvPr/>
        </p:nvSpPr>
        <p:spPr>
          <a:xfrm>
            <a:off x="58285" y="1328261"/>
            <a:ext cx="4032892" cy="4934887"/>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3F85436-5B26-E316-9956-8255388ED0E5}"/>
              </a:ext>
            </a:extLst>
          </p:cNvPr>
          <p:cNvSpPr/>
          <p:nvPr/>
        </p:nvSpPr>
        <p:spPr>
          <a:xfrm>
            <a:off x="4233035" y="1288933"/>
            <a:ext cx="4729533" cy="2215588"/>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85E85B4A-73B3-15A7-F23C-8FAB87C4174E}"/>
              </a:ext>
            </a:extLst>
          </p:cNvPr>
          <p:cNvSpPr/>
          <p:nvPr/>
        </p:nvSpPr>
        <p:spPr>
          <a:xfrm>
            <a:off x="4233035" y="3622420"/>
            <a:ext cx="4729533" cy="2724099"/>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65755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FCB25-2811-8655-BA86-DE38E5A4E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C8127-0B80-ADC3-BC3A-592FD594112E}"/>
              </a:ext>
            </a:extLst>
          </p:cNvPr>
          <p:cNvSpPr>
            <a:spLocks noGrp="1"/>
          </p:cNvSpPr>
          <p:nvPr>
            <p:ph type="title"/>
          </p:nvPr>
        </p:nvSpPr>
        <p:spPr>
          <a:xfrm>
            <a:off x="2072640" y="33812"/>
            <a:ext cx="4861560" cy="1294449"/>
          </a:xfrm>
        </p:spPr>
        <p:txBody>
          <a:bodyPr>
            <a:normAutofit fontScale="90000"/>
          </a:bodyPr>
          <a:lstStyle/>
          <a:p>
            <a:pPr algn="ctr"/>
            <a:r>
              <a:rPr lang="en-IN" dirty="0">
                <a:solidFill>
                  <a:schemeClr val="bg1"/>
                </a:solidFill>
              </a:rPr>
              <a:t>Research &amp; References</a:t>
            </a:r>
          </a:p>
        </p:txBody>
      </p:sp>
      <p:sp>
        <p:nvSpPr>
          <p:cNvPr id="10" name="Footer Placeholder 9">
            <a:extLst>
              <a:ext uri="{FF2B5EF4-FFF2-40B4-BE49-F238E27FC236}">
                <a16:creationId xmlns:a16="http://schemas.microsoft.com/office/drawing/2014/main" id="{8FC141C7-9E02-CE58-6B03-B3D569910926}"/>
              </a:ext>
            </a:extLst>
          </p:cNvPr>
          <p:cNvSpPr>
            <a:spLocks noGrp="1"/>
          </p:cNvSpPr>
          <p:nvPr>
            <p:ph type="ftr" sz="quarter" idx="11"/>
          </p:nvPr>
        </p:nvSpPr>
        <p:spPr/>
        <p:txBody>
          <a:bodyPr/>
          <a:lstStyle/>
          <a:p>
            <a:r>
              <a:rPr lang="en-IN"/>
              <a:t>NextGenHack Idea Submission - Template</a:t>
            </a:r>
          </a:p>
        </p:txBody>
      </p:sp>
      <p:sp>
        <p:nvSpPr>
          <p:cNvPr id="11" name="Slide Number Placeholder 10">
            <a:extLst>
              <a:ext uri="{FF2B5EF4-FFF2-40B4-BE49-F238E27FC236}">
                <a16:creationId xmlns:a16="http://schemas.microsoft.com/office/drawing/2014/main" id="{2601430A-EDE1-AF6A-6D0A-30C378640C25}"/>
              </a:ext>
            </a:extLst>
          </p:cNvPr>
          <p:cNvSpPr>
            <a:spLocks noGrp="1"/>
          </p:cNvSpPr>
          <p:nvPr>
            <p:ph type="sldNum" sz="quarter" idx="12"/>
          </p:nvPr>
        </p:nvSpPr>
        <p:spPr/>
        <p:txBody>
          <a:bodyPr/>
          <a:lstStyle/>
          <a:p>
            <a:fld id="{0C827B39-C601-484C-8A0D-4FD82261B79A}" type="slidenum">
              <a:rPr lang="en-IN" smtClean="0"/>
              <a:t>6</a:t>
            </a:fld>
            <a:endParaRPr lang="en-IN"/>
          </a:p>
        </p:txBody>
      </p:sp>
      <p:sp>
        <p:nvSpPr>
          <p:cNvPr id="5" name="TextBox 4">
            <a:extLst>
              <a:ext uri="{FF2B5EF4-FFF2-40B4-BE49-F238E27FC236}">
                <a16:creationId xmlns:a16="http://schemas.microsoft.com/office/drawing/2014/main" id="{CD6990C7-EC21-F8F4-141E-2EC516A72EA4}"/>
              </a:ext>
            </a:extLst>
          </p:cNvPr>
          <p:cNvSpPr txBox="1"/>
          <p:nvPr/>
        </p:nvSpPr>
        <p:spPr>
          <a:xfrm>
            <a:off x="446894" y="314057"/>
            <a:ext cx="849630" cy="553998"/>
          </a:xfrm>
          <a:prstGeom prst="rect">
            <a:avLst/>
          </a:prstGeom>
          <a:noFill/>
        </p:spPr>
        <p:txBody>
          <a:bodyPr wrap="square" rtlCol="0">
            <a:spAutoFit/>
          </a:bodyPr>
          <a:lstStyle/>
          <a:p>
            <a:pPr algn="ctr"/>
            <a:r>
              <a:rPr lang="en-IN" sz="1500" dirty="0"/>
              <a:t>Hello PyWorld</a:t>
            </a:r>
            <a:endParaRPr lang="en-IN" sz="1500" dirty="0">
              <a:effectLst/>
            </a:endParaRPr>
          </a:p>
        </p:txBody>
      </p:sp>
      <p:sp>
        <p:nvSpPr>
          <p:cNvPr id="4" name="TextBox 3">
            <a:extLst>
              <a:ext uri="{FF2B5EF4-FFF2-40B4-BE49-F238E27FC236}">
                <a16:creationId xmlns:a16="http://schemas.microsoft.com/office/drawing/2014/main" id="{2BE481AF-D1C0-EC10-563D-787D8025D9B6}"/>
              </a:ext>
            </a:extLst>
          </p:cNvPr>
          <p:cNvSpPr txBox="1"/>
          <p:nvPr/>
        </p:nvSpPr>
        <p:spPr>
          <a:xfrm>
            <a:off x="304799" y="1337191"/>
            <a:ext cx="8465575" cy="1938992"/>
          </a:xfrm>
          <a:prstGeom prst="rect">
            <a:avLst/>
          </a:prstGeom>
          <a:noFill/>
        </p:spPr>
        <p:txBody>
          <a:bodyPr wrap="square" rtlCol="0">
            <a:spAutoFit/>
          </a:bodyPr>
          <a:lstStyle/>
          <a:p>
            <a:r>
              <a:rPr lang="en-IN" b="1" dirty="0">
                <a:solidFill>
                  <a:schemeClr val="accent1"/>
                </a:solidFill>
              </a:rPr>
              <a:t>Datasets</a:t>
            </a:r>
          </a:p>
          <a:p>
            <a:pPr marL="285750" lvl="0" indent="-285750">
              <a:buFont typeface="Arial" panose="020B0604020202020204" pitchFamily="34" charset="0"/>
              <a:buChar char="•"/>
            </a:pPr>
            <a:r>
              <a:rPr lang="en-IN" sz="1400" dirty="0"/>
              <a:t>TACO (Trash Annotations in Context) — Pedamonti, J. et al. (2020). 1,500+ real-world outdoor litter images annotated across 60 litter categories. Primary training dataset for the trash detection model. </a:t>
            </a:r>
            <a:r>
              <a:rPr lang="en-IN" sz="1400" dirty="0">
                <a:solidFill>
                  <a:schemeClr val="accent5">
                    <a:lumMod val="50000"/>
                  </a:schemeClr>
                </a:solidFill>
              </a:rPr>
              <a:t>http://tacodataset.org</a:t>
            </a:r>
          </a:p>
          <a:p>
            <a:pPr marL="285750" lvl="0" indent="-285750">
              <a:buFont typeface="Arial" panose="020B0604020202020204" pitchFamily="34" charset="0"/>
              <a:buChar char="•"/>
            </a:pPr>
            <a:r>
              <a:rPr lang="en-IN" sz="1400" dirty="0"/>
              <a:t>COCO (Common Objects in Context) — Lin, T. et al. (2014). 330,000 images across 80 object categories. Used via pretrained YOLOv8s weights for person and vehicle detection. https://docs.ultralytics.com/datasets/detect/coco</a:t>
            </a:r>
          </a:p>
          <a:p>
            <a:endParaRPr lang="en-IN" dirty="0"/>
          </a:p>
        </p:txBody>
      </p:sp>
      <p:sp>
        <p:nvSpPr>
          <p:cNvPr id="6" name="TextBox 5">
            <a:extLst>
              <a:ext uri="{FF2B5EF4-FFF2-40B4-BE49-F238E27FC236}">
                <a16:creationId xmlns:a16="http://schemas.microsoft.com/office/drawing/2014/main" id="{ABC4CBBA-6CDE-3734-5AE3-3D9A3EC7D7F9}"/>
              </a:ext>
            </a:extLst>
          </p:cNvPr>
          <p:cNvSpPr txBox="1"/>
          <p:nvPr/>
        </p:nvSpPr>
        <p:spPr>
          <a:xfrm>
            <a:off x="304799" y="3195481"/>
            <a:ext cx="8377085" cy="3139321"/>
          </a:xfrm>
          <a:prstGeom prst="rect">
            <a:avLst/>
          </a:prstGeom>
          <a:noFill/>
        </p:spPr>
        <p:txBody>
          <a:bodyPr wrap="square" rtlCol="0">
            <a:spAutoFit/>
          </a:bodyPr>
          <a:lstStyle/>
          <a:p>
            <a:pPr lvl="0"/>
            <a:r>
              <a:rPr lang="en-IN" b="1" dirty="0">
                <a:solidFill>
                  <a:schemeClr val="accent1"/>
                </a:solidFill>
              </a:rPr>
              <a:t>Key Papers</a:t>
            </a:r>
            <a:endParaRPr lang="en-IN" b="1" u="sng" dirty="0">
              <a:solidFill>
                <a:schemeClr val="accent1"/>
              </a:solidFill>
              <a:hlinkClick r:id="rId2">
                <a:extLst>
                  <a:ext uri="{A12FA001-AC4F-418D-AE19-62706E023703}">
                    <ahyp:hlinkClr xmlns:ahyp="http://schemas.microsoft.com/office/drawing/2018/hyperlinkcolor" val="tx"/>
                  </a:ext>
                </a:extLst>
              </a:hlinkClick>
            </a:endParaRPr>
          </a:p>
          <a:p>
            <a:pPr marL="285750" lvl="0" indent="-285750">
              <a:buFont typeface="Arial" panose="020B0604020202020204" pitchFamily="34" charset="0"/>
              <a:buChar char="•"/>
            </a:pPr>
            <a:r>
              <a:rPr lang="en-IN" u="sng" dirty="0">
                <a:solidFill>
                  <a:srgbClr val="0563C1"/>
                </a:solidFill>
                <a:hlinkClick r:id="rId2">
                  <a:extLst>
                    <a:ext uri="{A12FA001-AC4F-418D-AE19-62706E023703}">
                      <ahyp:hlinkClr xmlns:ahyp="http://schemas.microsoft.com/office/drawing/2018/hyperlinkcolor" val="tx"/>
                    </a:ext>
                  </a:extLst>
                </a:hlinkClick>
              </a:rPr>
              <a:t>https://www.nature.com/articles/s41598-024-77118-x</a:t>
            </a:r>
            <a:endParaRPr lang="en-IN" dirty="0"/>
          </a:p>
          <a:p>
            <a:pPr marL="285750" lvl="0" indent="-285750">
              <a:buFont typeface="Arial" panose="020B0604020202020204" pitchFamily="34" charset="0"/>
              <a:buChar char="•"/>
            </a:pPr>
            <a:r>
              <a:rPr lang="en-IN" u="sng" dirty="0">
                <a:hlinkClick r:id="rId3"/>
              </a:rPr>
              <a:t>https://www.researchgate.net/publication/388326795_Real-time_detection_and_monitoring_of_public_littering_behavior_using_deep_learning_for_a_sustainable_environment</a:t>
            </a:r>
            <a:endParaRPr lang="en-IN" dirty="0"/>
          </a:p>
          <a:p>
            <a:pPr marL="285750" lvl="0" indent="-285750">
              <a:buFont typeface="Arial" panose="020B0604020202020204" pitchFamily="34" charset="0"/>
              <a:buChar char="•"/>
            </a:pPr>
            <a:r>
              <a:rPr lang="en-IN" u="sng" dirty="0">
                <a:hlinkClick r:id="rId4"/>
              </a:rPr>
              <a:t>https://www.irejournals.com/formatedpaper/1712601.pdf</a:t>
            </a:r>
            <a:endParaRPr lang="en-IN" dirty="0"/>
          </a:p>
          <a:p>
            <a:pPr marL="285750" lvl="0" indent="-285750">
              <a:buFont typeface="Arial" panose="020B0604020202020204" pitchFamily="34" charset="0"/>
              <a:buChar char="•"/>
            </a:pPr>
            <a:r>
              <a:rPr lang="en-IN" u="sng" dirty="0">
                <a:hlinkClick r:id="rId5"/>
              </a:rPr>
              <a:t>https://www.samvaktijournals.com/system/files/sjrit/2021.02.19/intelligent_garbage_detection_and_alert_system.pdf</a:t>
            </a:r>
            <a:endParaRPr lang="en-IN" dirty="0"/>
          </a:p>
          <a:p>
            <a:pPr marL="285750" lvl="0" indent="-285750">
              <a:buFont typeface="Arial" panose="020B0604020202020204" pitchFamily="34" charset="0"/>
              <a:buChar char="•"/>
            </a:pPr>
            <a:r>
              <a:rPr lang="en-IN" u="sng" dirty="0">
                <a:hlinkClick r:id="rId6"/>
              </a:rPr>
              <a:t>https://www.ijert.org/ai-based-camera-systems-for-roadsidel-itter-detection-and-offender-identification-ijertv15is010642</a:t>
            </a:r>
            <a:endParaRPr lang="en-IN" dirty="0"/>
          </a:p>
          <a:p>
            <a:endParaRPr lang="en-IN" dirty="0"/>
          </a:p>
        </p:txBody>
      </p:sp>
      <p:sp>
        <p:nvSpPr>
          <p:cNvPr id="7" name="Rectangle 6">
            <a:extLst>
              <a:ext uri="{FF2B5EF4-FFF2-40B4-BE49-F238E27FC236}">
                <a16:creationId xmlns:a16="http://schemas.microsoft.com/office/drawing/2014/main" id="{36002E53-999A-3323-8069-A9BB49F58AF7}"/>
              </a:ext>
            </a:extLst>
          </p:cNvPr>
          <p:cNvSpPr/>
          <p:nvPr/>
        </p:nvSpPr>
        <p:spPr>
          <a:xfrm>
            <a:off x="216309" y="1328261"/>
            <a:ext cx="8622892" cy="1719739"/>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B0573A65-D0B2-8032-C73C-A912FE925932}"/>
              </a:ext>
            </a:extLst>
          </p:cNvPr>
          <p:cNvSpPr/>
          <p:nvPr/>
        </p:nvSpPr>
        <p:spPr>
          <a:xfrm>
            <a:off x="221229" y="3173932"/>
            <a:ext cx="8622892" cy="298106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991538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548</TotalTime>
  <Words>871</Words>
  <Application>Microsoft Office PowerPoint</Application>
  <PresentationFormat>On-screen Show (4:3)</PresentationFormat>
  <Paragraphs>100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Title Page</vt:lpstr>
      <vt:lpstr>Idea Title</vt:lpstr>
      <vt:lpstr>Technical Approach</vt:lpstr>
      <vt:lpstr>Feasibility &amp; Viability</vt:lpstr>
      <vt:lpstr>Impact &amp; Benefits</vt:lpstr>
      <vt:lpstr>Research &amp;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Arkopravo Saha</dc:creator>
  <cp:lastModifiedBy>Arnab Datta</cp:lastModifiedBy>
  <cp:revision>13</cp:revision>
  <cp:lastPrinted>2026-03-02T17:53:20Z</cp:lastPrinted>
  <dcterms:created xsi:type="dcterms:W3CDTF">2026-02-24T22:12:28Z</dcterms:created>
  <dcterms:modified xsi:type="dcterms:W3CDTF">2026-03-10T07:16:42Z</dcterms:modified>
</cp:coreProperties>
</file>